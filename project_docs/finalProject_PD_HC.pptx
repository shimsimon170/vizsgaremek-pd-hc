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69" r:id="rId8"/>
    <p:sldId id="260" r:id="rId9"/>
    <p:sldId id="262" r:id="rId10"/>
    <p:sldId id="261" r:id="rId11"/>
    <p:sldId id="264" r:id="rId12"/>
    <p:sldId id="263" r:id="rId13"/>
    <p:sldId id="268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4037"/>
    <a:srgbClr val="F9F5EF"/>
    <a:srgbClr val="E0CFBD"/>
    <a:srgbClr val="4A3B32"/>
    <a:srgbClr val="CEA77A"/>
    <a:srgbClr val="8D6E63"/>
    <a:srgbClr val="362B13"/>
    <a:srgbClr val="D7CCC8"/>
    <a:srgbClr val="ACB0B1"/>
    <a:srgbClr val="605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Értékesítés</c:v>
                </c:pt>
              </c:strCache>
            </c:strRef>
          </c:tx>
          <c:explosion val="4"/>
          <c:dPt>
            <c:idx val="0"/>
            <c:bubble3D val="0"/>
            <c:spPr>
              <a:solidFill>
                <a:srgbClr val="5D403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45-4229-BC1A-C47D519C701D}"/>
              </c:ext>
            </c:extLst>
          </c:dPt>
          <c:dPt>
            <c:idx val="1"/>
            <c:bubble3D val="0"/>
            <c:spPr>
              <a:solidFill>
                <a:srgbClr val="D7CC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5845-4229-BC1A-C47D519C701D}"/>
              </c:ext>
            </c:extLst>
          </c:dPt>
          <c:dPt>
            <c:idx val="2"/>
            <c:bubble3D val="0"/>
            <c:spPr>
              <a:solidFill>
                <a:srgbClr val="8D6E6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45-4229-BC1A-C47D519C701D}"/>
              </c:ext>
            </c:extLst>
          </c:dPt>
          <c:dPt>
            <c:idx val="3"/>
            <c:bubble3D val="0"/>
            <c:spPr>
              <a:solidFill>
                <a:srgbClr val="F9F5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45-4229-BC1A-C47D519C701D}"/>
              </c:ext>
            </c:extLst>
          </c:dPt>
          <c:dPt>
            <c:idx val="4"/>
            <c:bubble3D val="0"/>
            <c:spPr>
              <a:solidFill>
                <a:srgbClr val="362B1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845-4229-BC1A-C47D519C701D}"/>
              </c:ext>
            </c:extLst>
          </c:dPt>
          <c:dPt>
            <c:idx val="5"/>
            <c:bubble3D val="0"/>
            <c:spPr>
              <a:solidFill>
                <a:srgbClr val="CEA77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5845-4229-BC1A-C47D519C701D}"/>
              </c:ext>
            </c:extLst>
          </c:dPt>
          <c:dPt>
            <c:idx val="6"/>
            <c:bubble3D val="0"/>
            <c:spPr>
              <a:solidFill>
                <a:srgbClr val="4A3B3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845-4229-BC1A-C47D519C701D}"/>
              </c:ext>
            </c:extLst>
          </c:dPt>
          <c:dPt>
            <c:idx val="7"/>
            <c:bubble3D val="0"/>
            <c:spPr>
              <a:solidFill>
                <a:srgbClr val="E0CFB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5845-4229-BC1A-C47D519C701D}"/>
              </c:ext>
            </c:extLst>
          </c:dPt>
          <c:cat>
            <c:strRef>
              <c:f>Munka1!$A$2:$A$9</c:f>
              <c:strCache>
                <c:ptCount val="8"/>
                <c:pt idx="0">
                  <c:v>1. negyedév</c:v>
                </c:pt>
                <c:pt idx="1">
                  <c:v>2. negyedév</c:v>
                </c:pt>
                <c:pt idx="2">
                  <c:v>3. negyedév</c:v>
                </c:pt>
                <c:pt idx="3">
                  <c:v>4. negyedév</c:v>
                </c:pt>
                <c:pt idx="4">
                  <c:v>5.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Munka1!$B$2:$B$9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5-4229-BC1A-C47D519C70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75183976933721419"/>
          <c:y val="0.560510504482233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Dóra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C34-4675-AC59-13B27A3188F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C34-4675-AC59-13B27A3188F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C34-4675-AC59-13B27A3188F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C34-4675-AC59-13B27A3188F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C34-4675-AC59-13B27A3188F2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C34-4675-AC59-13B27A3188F2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2D09-4F68-B635-D6C38B020F2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2D09-4F68-B635-D6C38B020F2C}"/>
              </c:ext>
            </c:extLst>
          </c:dPt>
          <c:dLbls>
            <c:dLbl>
              <c:idx val="0"/>
              <c:layout>
                <c:manualLayout>
                  <c:x val="-5.8130742356127869E-2"/>
                  <c:y val="-1.08485904093335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34-4675-AC59-13B27A3188F2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C34-4675-AC59-13B27A3188F2}"/>
                </c:ext>
              </c:extLst>
            </c:dLbl>
            <c:dLbl>
              <c:idx val="2"/>
              <c:layout>
                <c:manualLayout>
                  <c:x val="-2.3252296942451968E-3"/>
                  <c:y val="-5.06267552435565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C34-4675-AC59-13B27A3188F2}"/>
                </c:ext>
              </c:extLst>
            </c:dLbl>
            <c:dLbl>
              <c:idx val="3"/>
              <c:layout>
                <c:manualLayout>
                  <c:x val="1.8601837553960807E-2"/>
                  <c:y val="-4.701055844044536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34-4675-AC59-13B27A3188F2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5C34-4675-AC59-13B27A3188F2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5C34-4675-AC59-13B27A3188F2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2D09-4F68-B635-D6C38B020F2C}"/>
                </c:ext>
              </c:extLst>
            </c:dLbl>
            <c:dLbl>
              <c:idx val="7"/>
              <c:layout>
                <c:manualLayout>
                  <c:x val="3.3715830566554125E-2"/>
                  <c:y val="-3.616196803111209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915138636785573"/>
                      <c:h val="0.186975598074816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D09-4F68-B635-D6C38B020F2C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Munka1!$A$2:$A$9</c:f>
              <c:strCache>
                <c:ptCount val="8"/>
                <c:pt idx="0">
                  <c:v> presentation</c:v>
                </c:pt>
                <c:pt idx="1">
                  <c:v>frontend base design</c:v>
                </c:pt>
                <c:pt idx="2">
                  <c:v>menu items</c:v>
                </c:pt>
                <c:pt idx="3">
                  <c:v>html - pages</c:v>
                </c:pt>
                <c:pt idx="4">
                  <c:v>css - style </c:v>
                </c:pt>
                <c:pt idx="5">
                  <c:v>Admin function</c:v>
                </c:pt>
                <c:pt idx="6">
                  <c:v>responsive design</c:v>
                </c:pt>
                <c:pt idx="7">
                  <c:v>login/registration debugging</c:v>
                </c:pt>
              </c:strCache>
            </c:strRef>
          </c:cat>
          <c:val>
            <c:numRef>
              <c:f>Munka1!$B$2:$B$9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6</c:v>
                </c:pt>
                <c:pt idx="5">
                  <c:v>7</c:v>
                </c:pt>
                <c:pt idx="6">
                  <c:v>3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0C-4194-86B7-23135FC2A6B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Cintia</a:t>
            </a:r>
          </a:p>
        </c:rich>
      </c:tx>
      <c:layout>
        <c:manualLayout>
          <c:xMode val="edge"/>
          <c:yMode val="edge"/>
          <c:x val="9.9497897847771688E-2"/>
          <c:y val="0.584454327019385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Cintia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A29-47A6-B807-EE24DFDA9CF0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A29-47A6-B807-EE24DFDA9CF0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A29-47A6-B807-EE24DFDA9CF0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8A29-47A6-B807-EE24DFDA9CF0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8A29-47A6-B807-EE24DFDA9CF0}"/>
              </c:ext>
            </c:extLst>
          </c:dPt>
          <c:dPt>
            <c:idx val="5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8A29-47A6-B807-EE24DFDA9CF0}"/>
              </c:ext>
            </c:extLst>
          </c:dPt>
          <c:dPt>
            <c:idx val="6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D66C-422D-9F18-046950BC5C32}"/>
              </c:ext>
            </c:extLst>
          </c:dPt>
          <c:dPt>
            <c:idx val="7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14FF-4083-ACC0-BE2B41A2350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A29-47A6-B807-EE24DFDA9CF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A29-47A6-B807-EE24DFDA9CF0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A29-47A6-B807-EE24DFDA9CF0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6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A29-47A6-B807-EE24DFDA9CF0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5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8A29-47A6-B807-EE24DFDA9CF0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8A29-47A6-B807-EE24DFDA9CF0}"/>
                </c:ext>
              </c:extLst>
            </c:dLbl>
            <c:dLbl>
              <c:idx val="6"/>
              <c:layout>
                <c:manualLayout>
                  <c:x val="4.4164323076181643E-2"/>
                  <c:y val="-1.031389988857738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6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66C-422D-9F18-046950BC5C32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5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14FF-4083-ACC0-BE2B41A2350A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Munka1!$A$2:$A$9</c:f>
              <c:strCache>
                <c:ptCount val="8"/>
                <c:pt idx="0">
                  <c:v>java backend</c:v>
                </c:pt>
                <c:pt idx="1">
                  <c:v>sql framework</c:v>
                </c:pt>
                <c:pt idx="2">
                  <c:v>database</c:v>
                </c:pt>
                <c:pt idx="3">
                  <c:v>jwt</c:v>
                </c:pt>
                <c:pt idx="4">
                  <c:v>php</c:v>
                </c:pt>
                <c:pt idx="5">
                  <c:v>debugging backend</c:v>
                </c:pt>
                <c:pt idx="6">
                  <c:v>design ideas</c:v>
                </c:pt>
                <c:pt idx="7">
                  <c:v>search</c:v>
                </c:pt>
              </c:strCache>
            </c:strRef>
          </c:cat>
          <c:val>
            <c:numRef>
              <c:f>Munka1!$B$2:$B$9</c:f>
              <c:numCache>
                <c:formatCode>General</c:formatCode>
                <c:ptCount val="8"/>
                <c:pt idx="0">
                  <c:v>7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6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A29-47A6-B807-EE24DFDA9CF0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8E4C6A-C091-49F3-A5A3-403108F9E7A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EE59A97-4993-48B8-BC65-C80CCD5C9C1D}">
      <dgm:prSet/>
      <dgm:spPr/>
      <dgm:t>
        <a:bodyPr/>
        <a:lstStyle/>
        <a:p>
          <a:r>
            <a:rPr lang="hu-HU" b="1" dirty="0"/>
            <a:t>Frontend</a:t>
          </a:r>
          <a:r>
            <a:rPr lang="hu-HU" dirty="0"/>
            <a:t>: VS </a:t>
          </a:r>
          <a:r>
            <a:rPr lang="hu-HU" dirty="0" err="1"/>
            <a:t>code</a:t>
          </a:r>
          <a:r>
            <a:rPr lang="hu-HU" dirty="0"/>
            <a:t>, </a:t>
          </a:r>
          <a:r>
            <a:rPr lang="hu-HU" dirty="0" err="1"/>
            <a:t>Figma</a:t>
          </a:r>
          <a:r>
            <a:rPr lang="hu-HU" dirty="0"/>
            <a:t>, </a:t>
          </a:r>
          <a:r>
            <a:rPr lang="hu-HU" dirty="0" err="1"/>
            <a:t>Bootstrap</a:t>
          </a:r>
          <a:endParaRPr lang="en-US" dirty="0"/>
        </a:p>
      </dgm:t>
    </dgm:pt>
    <dgm:pt modelId="{23126CAE-64F2-4B5B-957B-0ABB4C333EF1}" type="parTrans" cxnId="{3B926464-A325-489E-881B-D10CAD623D26}">
      <dgm:prSet/>
      <dgm:spPr/>
      <dgm:t>
        <a:bodyPr/>
        <a:lstStyle/>
        <a:p>
          <a:endParaRPr lang="en-US"/>
        </a:p>
      </dgm:t>
    </dgm:pt>
    <dgm:pt modelId="{5883CCD5-AEC7-41AE-9686-753808BDD51A}" type="sibTrans" cxnId="{3B926464-A325-489E-881B-D10CAD623D26}">
      <dgm:prSet/>
      <dgm:spPr/>
      <dgm:t>
        <a:bodyPr/>
        <a:lstStyle/>
        <a:p>
          <a:endParaRPr lang="en-US"/>
        </a:p>
      </dgm:t>
    </dgm:pt>
    <dgm:pt modelId="{F0F8D537-68F4-4E5F-B703-F3639B97DDB5}">
      <dgm:prSet/>
      <dgm:spPr/>
      <dgm:t>
        <a:bodyPr/>
        <a:lstStyle/>
        <a:p>
          <a:r>
            <a:rPr lang="hu-HU" b="1" dirty="0"/>
            <a:t>Backend</a:t>
          </a:r>
          <a:r>
            <a:rPr lang="hu-HU" dirty="0"/>
            <a:t>: </a:t>
          </a:r>
          <a:r>
            <a:rPr lang="hu-HU" dirty="0" err="1"/>
            <a:t>Neatbeans</a:t>
          </a:r>
          <a:r>
            <a:rPr lang="hu-HU" dirty="0"/>
            <a:t>, Php, Postman</a:t>
          </a:r>
          <a:endParaRPr lang="en-US" dirty="0"/>
        </a:p>
      </dgm:t>
    </dgm:pt>
    <dgm:pt modelId="{DFAB0F3B-310B-47C9-BD6B-E43FC8561904}" type="parTrans" cxnId="{05278EB5-2E81-421F-B077-5A2E43F34D9E}">
      <dgm:prSet/>
      <dgm:spPr/>
      <dgm:t>
        <a:bodyPr/>
        <a:lstStyle/>
        <a:p>
          <a:endParaRPr lang="en-US"/>
        </a:p>
      </dgm:t>
    </dgm:pt>
    <dgm:pt modelId="{534B8BF2-A4BB-4D5F-94C8-C5156F156837}" type="sibTrans" cxnId="{05278EB5-2E81-421F-B077-5A2E43F34D9E}">
      <dgm:prSet/>
      <dgm:spPr/>
      <dgm:t>
        <a:bodyPr/>
        <a:lstStyle/>
        <a:p>
          <a:endParaRPr lang="en-US"/>
        </a:p>
      </dgm:t>
    </dgm:pt>
    <dgm:pt modelId="{A9861CEB-AABC-4824-B0A1-57B239B9FA78}">
      <dgm:prSet/>
      <dgm:spPr/>
      <dgm:t>
        <a:bodyPr/>
        <a:lstStyle/>
        <a:p>
          <a:r>
            <a:rPr lang="hu-HU" b="1" dirty="0" err="1"/>
            <a:t>Database</a:t>
          </a:r>
          <a:r>
            <a:rPr lang="hu-HU" b="1" dirty="0"/>
            <a:t>: </a:t>
          </a:r>
          <a:r>
            <a:rPr lang="hu-HU" dirty="0" err="1"/>
            <a:t>MySQL</a:t>
          </a:r>
          <a:r>
            <a:rPr lang="hu-HU" dirty="0"/>
            <a:t>, MAMP</a:t>
          </a:r>
          <a:endParaRPr lang="en-US" dirty="0"/>
        </a:p>
      </dgm:t>
    </dgm:pt>
    <dgm:pt modelId="{E8D89EAC-6DB2-4708-9FDE-A4206A4D16EE}" type="parTrans" cxnId="{19B19204-6040-429D-B44D-F3F878C4D402}">
      <dgm:prSet/>
      <dgm:spPr/>
      <dgm:t>
        <a:bodyPr/>
        <a:lstStyle/>
        <a:p>
          <a:endParaRPr lang="en-US"/>
        </a:p>
      </dgm:t>
    </dgm:pt>
    <dgm:pt modelId="{CDC1C68E-3D3B-4013-82AC-33D9CF06F927}" type="sibTrans" cxnId="{19B19204-6040-429D-B44D-F3F878C4D402}">
      <dgm:prSet/>
      <dgm:spPr/>
      <dgm:t>
        <a:bodyPr/>
        <a:lstStyle/>
        <a:p>
          <a:endParaRPr lang="en-US"/>
        </a:p>
      </dgm:t>
    </dgm:pt>
    <dgm:pt modelId="{8859BA7A-E3D0-49FB-9679-0DA03729D140}">
      <dgm:prSet/>
      <dgm:spPr/>
      <dgm:t>
        <a:bodyPr/>
        <a:lstStyle/>
        <a:p>
          <a:r>
            <a:rPr lang="hu-HU" b="1" dirty="0"/>
            <a:t>Account </a:t>
          </a:r>
          <a:r>
            <a:rPr lang="hu-HU" b="1" dirty="0" err="1"/>
            <a:t>authentication</a:t>
          </a:r>
          <a:r>
            <a:rPr lang="hu-HU" b="1" dirty="0"/>
            <a:t>: </a:t>
          </a:r>
          <a:r>
            <a:rPr lang="hu-HU" dirty="0"/>
            <a:t>JWT</a:t>
          </a:r>
          <a:endParaRPr lang="en-US" dirty="0"/>
        </a:p>
      </dgm:t>
    </dgm:pt>
    <dgm:pt modelId="{1ED61EB3-5ADC-486D-841F-670C2DCAFA52}" type="parTrans" cxnId="{13E5A93C-CFB8-4F3E-A7A7-102B3A0EFBCE}">
      <dgm:prSet/>
      <dgm:spPr/>
      <dgm:t>
        <a:bodyPr/>
        <a:lstStyle/>
        <a:p>
          <a:endParaRPr lang="en-US"/>
        </a:p>
      </dgm:t>
    </dgm:pt>
    <dgm:pt modelId="{19A9B064-94C0-4BE1-91AB-E948C64CB0E9}" type="sibTrans" cxnId="{13E5A93C-CFB8-4F3E-A7A7-102B3A0EFBCE}">
      <dgm:prSet/>
      <dgm:spPr/>
      <dgm:t>
        <a:bodyPr/>
        <a:lstStyle/>
        <a:p>
          <a:endParaRPr lang="en-US"/>
        </a:p>
      </dgm:t>
    </dgm:pt>
    <dgm:pt modelId="{1C4FD178-F81D-4E5E-8E93-D9F14A74E2F5}" type="pres">
      <dgm:prSet presAssocID="{088E4C6A-C091-49F3-A5A3-403108F9E7A4}" presName="vert0" presStyleCnt="0">
        <dgm:presLayoutVars>
          <dgm:dir/>
          <dgm:animOne val="branch"/>
          <dgm:animLvl val="lvl"/>
        </dgm:presLayoutVars>
      </dgm:prSet>
      <dgm:spPr/>
    </dgm:pt>
    <dgm:pt modelId="{72F4A861-1E00-4574-9D20-A9F6DFA5C3C4}" type="pres">
      <dgm:prSet presAssocID="{EEE59A97-4993-48B8-BC65-C80CCD5C9C1D}" presName="thickLine" presStyleLbl="alignNode1" presStyleIdx="0" presStyleCnt="4"/>
      <dgm:spPr/>
    </dgm:pt>
    <dgm:pt modelId="{AE1F551C-51ED-4C37-AEA4-B5CC1E846C07}" type="pres">
      <dgm:prSet presAssocID="{EEE59A97-4993-48B8-BC65-C80CCD5C9C1D}" presName="horz1" presStyleCnt="0"/>
      <dgm:spPr/>
    </dgm:pt>
    <dgm:pt modelId="{9DA7C068-CDF1-4730-ACB3-5989D592C59B}" type="pres">
      <dgm:prSet presAssocID="{EEE59A97-4993-48B8-BC65-C80CCD5C9C1D}" presName="tx1" presStyleLbl="revTx" presStyleIdx="0" presStyleCnt="4"/>
      <dgm:spPr/>
    </dgm:pt>
    <dgm:pt modelId="{DA385088-8C57-4F08-8DE7-D033575F6402}" type="pres">
      <dgm:prSet presAssocID="{EEE59A97-4993-48B8-BC65-C80CCD5C9C1D}" presName="vert1" presStyleCnt="0"/>
      <dgm:spPr/>
    </dgm:pt>
    <dgm:pt modelId="{FDD9C7EC-F306-449D-B765-79C4162FCF27}" type="pres">
      <dgm:prSet presAssocID="{F0F8D537-68F4-4E5F-B703-F3639B97DDB5}" presName="thickLine" presStyleLbl="alignNode1" presStyleIdx="1" presStyleCnt="4"/>
      <dgm:spPr/>
    </dgm:pt>
    <dgm:pt modelId="{44850C03-EF9F-495E-9600-0471072B10BB}" type="pres">
      <dgm:prSet presAssocID="{F0F8D537-68F4-4E5F-B703-F3639B97DDB5}" presName="horz1" presStyleCnt="0"/>
      <dgm:spPr/>
    </dgm:pt>
    <dgm:pt modelId="{70AAF7CA-5A52-41DD-9DF5-344A4EB8674E}" type="pres">
      <dgm:prSet presAssocID="{F0F8D537-68F4-4E5F-B703-F3639B97DDB5}" presName="tx1" presStyleLbl="revTx" presStyleIdx="1" presStyleCnt="4"/>
      <dgm:spPr/>
    </dgm:pt>
    <dgm:pt modelId="{F6EC8C7D-AAB7-43EA-B49F-45CC97231908}" type="pres">
      <dgm:prSet presAssocID="{F0F8D537-68F4-4E5F-B703-F3639B97DDB5}" presName="vert1" presStyleCnt="0"/>
      <dgm:spPr/>
    </dgm:pt>
    <dgm:pt modelId="{3C646EBD-184B-476C-9787-1DCBA8F12D42}" type="pres">
      <dgm:prSet presAssocID="{A9861CEB-AABC-4824-B0A1-57B239B9FA78}" presName="thickLine" presStyleLbl="alignNode1" presStyleIdx="2" presStyleCnt="4"/>
      <dgm:spPr/>
    </dgm:pt>
    <dgm:pt modelId="{6A6296D1-0308-46E3-8CBA-D5ADE1FED5FF}" type="pres">
      <dgm:prSet presAssocID="{A9861CEB-AABC-4824-B0A1-57B239B9FA78}" presName="horz1" presStyleCnt="0"/>
      <dgm:spPr/>
    </dgm:pt>
    <dgm:pt modelId="{9DF152DA-5FD6-4103-B78F-866AC76A77B7}" type="pres">
      <dgm:prSet presAssocID="{A9861CEB-AABC-4824-B0A1-57B239B9FA78}" presName="tx1" presStyleLbl="revTx" presStyleIdx="2" presStyleCnt="4"/>
      <dgm:spPr/>
    </dgm:pt>
    <dgm:pt modelId="{9331FEB8-5261-4470-B0BA-6CAF80346AC2}" type="pres">
      <dgm:prSet presAssocID="{A9861CEB-AABC-4824-B0A1-57B239B9FA78}" presName="vert1" presStyleCnt="0"/>
      <dgm:spPr/>
    </dgm:pt>
    <dgm:pt modelId="{361253C7-32FA-4FCF-B717-543904F5B60A}" type="pres">
      <dgm:prSet presAssocID="{8859BA7A-E3D0-49FB-9679-0DA03729D140}" presName="thickLine" presStyleLbl="alignNode1" presStyleIdx="3" presStyleCnt="4"/>
      <dgm:spPr/>
    </dgm:pt>
    <dgm:pt modelId="{7F2EE21C-3D72-40EA-A00F-905F6F26DEAA}" type="pres">
      <dgm:prSet presAssocID="{8859BA7A-E3D0-49FB-9679-0DA03729D140}" presName="horz1" presStyleCnt="0"/>
      <dgm:spPr/>
    </dgm:pt>
    <dgm:pt modelId="{9A46FCC0-102C-4773-B6A2-B55DACA99618}" type="pres">
      <dgm:prSet presAssocID="{8859BA7A-E3D0-49FB-9679-0DA03729D140}" presName="tx1" presStyleLbl="revTx" presStyleIdx="3" presStyleCnt="4"/>
      <dgm:spPr/>
    </dgm:pt>
    <dgm:pt modelId="{3BB0D8EC-7729-4EF6-9C8C-A2353946796E}" type="pres">
      <dgm:prSet presAssocID="{8859BA7A-E3D0-49FB-9679-0DA03729D140}" presName="vert1" presStyleCnt="0"/>
      <dgm:spPr/>
    </dgm:pt>
  </dgm:ptLst>
  <dgm:cxnLst>
    <dgm:cxn modelId="{19B19204-6040-429D-B44D-F3F878C4D402}" srcId="{088E4C6A-C091-49F3-A5A3-403108F9E7A4}" destId="{A9861CEB-AABC-4824-B0A1-57B239B9FA78}" srcOrd="2" destOrd="0" parTransId="{E8D89EAC-6DB2-4708-9FDE-A4206A4D16EE}" sibTransId="{CDC1C68E-3D3B-4013-82AC-33D9CF06F927}"/>
    <dgm:cxn modelId="{13E5A93C-CFB8-4F3E-A7A7-102B3A0EFBCE}" srcId="{088E4C6A-C091-49F3-A5A3-403108F9E7A4}" destId="{8859BA7A-E3D0-49FB-9679-0DA03729D140}" srcOrd="3" destOrd="0" parTransId="{1ED61EB3-5ADC-486D-841F-670C2DCAFA52}" sibTransId="{19A9B064-94C0-4BE1-91AB-E948C64CB0E9}"/>
    <dgm:cxn modelId="{3B926464-A325-489E-881B-D10CAD623D26}" srcId="{088E4C6A-C091-49F3-A5A3-403108F9E7A4}" destId="{EEE59A97-4993-48B8-BC65-C80CCD5C9C1D}" srcOrd="0" destOrd="0" parTransId="{23126CAE-64F2-4B5B-957B-0ABB4C333EF1}" sibTransId="{5883CCD5-AEC7-41AE-9686-753808BDD51A}"/>
    <dgm:cxn modelId="{6D1E0581-573B-4CDF-A115-F870B88508CA}" type="presOf" srcId="{EEE59A97-4993-48B8-BC65-C80CCD5C9C1D}" destId="{9DA7C068-CDF1-4730-ACB3-5989D592C59B}" srcOrd="0" destOrd="0" presId="urn:microsoft.com/office/officeart/2008/layout/LinedList"/>
    <dgm:cxn modelId="{85DEB781-F29F-407F-B17A-587411FC6F4B}" type="presOf" srcId="{A9861CEB-AABC-4824-B0A1-57B239B9FA78}" destId="{9DF152DA-5FD6-4103-B78F-866AC76A77B7}" srcOrd="0" destOrd="0" presId="urn:microsoft.com/office/officeart/2008/layout/LinedList"/>
    <dgm:cxn modelId="{F6831989-D1F0-440D-B5AF-C0B03A439BAB}" type="presOf" srcId="{088E4C6A-C091-49F3-A5A3-403108F9E7A4}" destId="{1C4FD178-F81D-4E5E-8E93-D9F14A74E2F5}" srcOrd="0" destOrd="0" presId="urn:microsoft.com/office/officeart/2008/layout/LinedList"/>
    <dgm:cxn modelId="{736F2EB0-A962-4C6F-AE6D-7E66D210518A}" type="presOf" srcId="{8859BA7A-E3D0-49FB-9679-0DA03729D140}" destId="{9A46FCC0-102C-4773-B6A2-B55DACA99618}" srcOrd="0" destOrd="0" presId="urn:microsoft.com/office/officeart/2008/layout/LinedList"/>
    <dgm:cxn modelId="{05278EB5-2E81-421F-B077-5A2E43F34D9E}" srcId="{088E4C6A-C091-49F3-A5A3-403108F9E7A4}" destId="{F0F8D537-68F4-4E5F-B703-F3639B97DDB5}" srcOrd="1" destOrd="0" parTransId="{DFAB0F3B-310B-47C9-BD6B-E43FC8561904}" sibTransId="{534B8BF2-A4BB-4D5F-94C8-C5156F156837}"/>
    <dgm:cxn modelId="{494B7AFD-392A-4731-B8D5-AE304B64A8F9}" type="presOf" srcId="{F0F8D537-68F4-4E5F-B703-F3639B97DDB5}" destId="{70AAF7CA-5A52-41DD-9DF5-344A4EB8674E}" srcOrd="0" destOrd="0" presId="urn:microsoft.com/office/officeart/2008/layout/LinedList"/>
    <dgm:cxn modelId="{06E2B619-279B-4A3C-B440-C8675066CF88}" type="presParOf" srcId="{1C4FD178-F81D-4E5E-8E93-D9F14A74E2F5}" destId="{72F4A861-1E00-4574-9D20-A9F6DFA5C3C4}" srcOrd="0" destOrd="0" presId="urn:microsoft.com/office/officeart/2008/layout/LinedList"/>
    <dgm:cxn modelId="{E5BC872E-16AB-45D5-976A-C3EC75C2C9BC}" type="presParOf" srcId="{1C4FD178-F81D-4E5E-8E93-D9F14A74E2F5}" destId="{AE1F551C-51ED-4C37-AEA4-B5CC1E846C07}" srcOrd="1" destOrd="0" presId="urn:microsoft.com/office/officeart/2008/layout/LinedList"/>
    <dgm:cxn modelId="{F04A0031-DE97-4FDA-B16F-58B33093B5BE}" type="presParOf" srcId="{AE1F551C-51ED-4C37-AEA4-B5CC1E846C07}" destId="{9DA7C068-CDF1-4730-ACB3-5989D592C59B}" srcOrd="0" destOrd="0" presId="urn:microsoft.com/office/officeart/2008/layout/LinedList"/>
    <dgm:cxn modelId="{A14BB840-62C1-4A45-865D-D85BF6485C0F}" type="presParOf" srcId="{AE1F551C-51ED-4C37-AEA4-B5CC1E846C07}" destId="{DA385088-8C57-4F08-8DE7-D033575F6402}" srcOrd="1" destOrd="0" presId="urn:microsoft.com/office/officeart/2008/layout/LinedList"/>
    <dgm:cxn modelId="{ACFD4921-D5B5-45C2-8113-59786956E141}" type="presParOf" srcId="{1C4FD178-F81D-4E5E-8E93-D9F14A74E2F5}" destId="{FDD9C7EC-F306-449D-B765-79C4162FCF27}" srcOrd="2" destOrd="0" presId="urn:microsoft.com/office/officeart/2008/layout/LinedList"/>
    <dgm:cxn modelId="{FB0C8ACA-2196-420F-9E12-5A8A8D9AC527}" type="presParOf" srcId="{1C4FD178-F81D-4E5E-8E93-D9F14A74E2F5}" destId="{44850C03-EF9F-495E-9600-0471072B10BB}" srcOrd="3" destOrd="0" presId="urn:microsoft.com/office/officeart/2008/layout/LinedList"/>
    <dgm:cxn modelId="{C68364E5-ED8F-4EEC-BAE1-51835E085FA2}" type="presParOf" srcId="{44850C03-EF9F-495E-9600-0471072B10BB}" destId="{70AAF7CA-5A52-41DD-9DF5-344A4EB8674E}" srcOrd="0" destOrd="0" presId="urn:microsoft.com/office/officeart/2008/layout/LinedList"/>
    <dgm:cxn modelId="{D1A53B72-F899-4F16-B653-D2FAEB058E66}" type="presParOf" srcId="{44850C03-EF9F-495E-9600-0471072B10BB}" destId="{F6EC8C7D-AAB7-43EA-B49F-45CC97231908}" srcOrd="1" destOrd="0" presId="urn:microsoft.com/office/officeart/2008/layout/LinedList"/>
    <dgm:cxn modelId="{B6E8A0A1-00F5-4621-AD01-59F171303057}" type="presParOf" srcId="{1C4FD178-F81D-4E5E-8E93-D9F14A74E2F5}" destId="{3C646EBD-184B-476C-9787-1DCBA8F12D42}" srcOrd="4" destOrd="0" presId="urn:microsoft.com/office/officeart/2008/layout/LinedList"/>
    <dgm:cxn modelId="{93111495-F28E-492F-959B-666C657930F4}" type="presParOf" srcId="{1C4FD178-F81D-4E5E-8E93-D9F14A74E2F5}" destId="{6A6296D1-0308-46E3-8CBA-D5ADE1FED5FF}" srcOrd="5" destOrd="0" presId="urn:microsoft.com/office/officeart/2008/layout/LinedList"/>
    <dgm:cxn modelId="{AB81A89C-2F9E-42C2-83E3-EF43064AABD6}" type="presParOf" srcId="{6A6296D1-0308-46E3-8CBA-D5ADE1FED5FF}" destId="{9DF152DA-5FD6-4103-B78F-866AC76A77B7}" srcOrd="0" destOrd="0" presId="urn:microsoft.com/office/officeart/2008/layout/LinedList"/>
    <dgm:cxn modelId="{556FF369-541E-4CB1-A1D9-5E07437B14C5}" type="presParOf" srcId="{6A6296D1-0308-46E3-8CBA-D5ADE1FED5FF}" destId="{9331FEB8-5261-4470-B0BA-6CAF80346AC2}" srcOrd="1" destOrd="0" presId="urn:microsoft.com/office/officeart/2008/layout/LinedList"/>
    <dgm:cxn modelId="{05F1CC5C-7822-4C0B-AF97-DED453901B39}" type="presParOf" srcId="{1C4FD178-F81D-4E5E-8E93-D9F14A74E2F5}" destId="{361253C7-32FA-4FCF-B717-543904F5B60A}" srcOrd="6" destOrd="0" presId="urn:microsoft.com/office/officeart/2008/layout/LinedList"/>
    <dgm:cxn modelId="{0B278937-A2EF-47E3-9FFF-1A6DB5161550}" type="presParOf" srcId="{1C4FD178-F81D-4E5E-8E93-D9F14A74E2F5}" destId="{7F2EE21C-3D72-40EA-A00F-905F6F26DEAA}" srcOrd="7" destOrd="0" presId="urn:microsoft.com/office/officeart/2008/layout/LinedList"/>
    <dgm:cxn modelId="{B705365E-DCB0-45C5-A8DB-143CB006A3B8}" type="presParOf" srcId="{7F2EE21C-3D72-40EA-A00F-905F6F26DEAA}" destId="{9A46FCC0-102C-4773-B6A2-B55DACA99618}" srcOrd="0" destOrd="0" presId="urn:microsoft.com/office/officeart/2008/layout/LinedList"/>
    <dgm:cxn modelId="{997C94FD-18A0-437A-8D4F-168C20E2FA07}" type="presParOf" srcId="{7F2EE21C-3D72-40EA-A00F-905F6F26DEAA}" destId="{3BB0D8EC-7729-4EF6-9C8C-A235394679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4A861-1E00-4574-9D20-A9F6DFA5C3C4}">
      <dsp:nvSpPr>
        <dsp:cNvPr id="0" name=""/>
        <dsp:cNvSpPr/>
      </dsp:nvSpPr>
      <dsp:spPr>
        <a:xfrm>
          <a:off x="0" y="0"/>
          <a:ext cx="62211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7C068-CDF1-4730-ACB3-5989D592C59B}">
      <dsp:nvSpPr>
        <dsp:cNvPr id="0" name=""/>
        <dsp:cNvSpPr/>
      </dsp:nvSpPr>
      <dsp:spPr>
        <a:xfrm>
          <a:off x="0" y="0"/>
          <a:ext cx="622115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b="1" kern="1200" dirty="0"/>
            <a:t>Frontend</a:t>
          </a:r>
          <a:r>
            <a:rPr lang="hu-HU" sz="3000" kern="1200" dirty="0"/>
            <a:t>: VS </a:t>
          </a:r>
          <a:r>
            <a:rPr lang="hu-HU" sz="3000" kern="1200" dirty="0" err="1"/>
            <a:t>code</a:t>
          </a:r>
          <a:r>
            <a:rPr lang="hu-HU" sz="3000" kern="1200" dirty="0"/>
            <a:t>, </a:t>
          </a:r>
          <a:r>
            <a:rPr lang="hu-HU" sz="3000" kern="1200" dirty="0" err="1"/>
            <a:t>Figma</a:t>
          </a:r>
          <a:r>
            <a:rPr lang="hu-HU" sz="3000" kern="1200" dirty="0"/>
            <a:t>, </a:t>
          </a:r>
          <a:r>
            <a:rPr lang="hu-HU" sz="3000" kern="1200" dirty="0" err="1"/>
            <a:t>Bootstrap</a:t>
          </a:r>
          <a:endParaRPr lang="en-US" sz="3000" kern="1200" dirty="0"/>
        </a:p>
      </dsp:txBody>
      <dsp:txXfrm>
        <a:off x="0" y="0"/>
        <a:ext cx="6221150" cy="1087834"/>
      </dsp:txXfrm>
    </dsp:sp>
    <dsp:sp modelId="{FDD9C7EC-F306-449D-B765-79C4162FCF27}">
      <dsp:nvSpPr>
        <dsp:cNvPr id="0" name=""/>
        <dsp:cNvSpPr/>
      </dsp:nvSpPr>
      <dsp:spPr>
        <a:xfrm>
          <a:off x="0" y="1087834"/>
          <a:ext cx="62211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AF7CA-5A52-41DD-9DF5-344A4EB8674E}">
      <dsp:nvSpPr>
        <dsp:cNvPr id="0" name=""/>
        <dsp:cNvSpPr/>
      </dsp:nvSpPr>
      <dsp:spPr>
        <a:xfrm>
          <a:off x="0" y="1087834"/>
          <a:ext cx="622115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b="1" kern="1200" dirty="0"/>
            <a:t>Backend</a:t>
          </a:r>
          <a:r>
            <a:rPr lang="hu-HU" sz="3000" kern="1200" dirty="0"/>
            <a:t>: </a:t>
          </a:r>
          <a:r>
            <a:rPr lang="hu-HU" sz="3000" kern="1200" dirty="0" err="1"/>
            <a:t>Neatbeans</a:t>
          </a:r>
          <a:r>
            <a:rPr lang="hu-HU" sz="3000" kern="1200" dirty="0"/>
            <a:t>, Php, Postman</a:t>
          </a:r>
          <a:endParaRPr lang="en-US" sz="3000" kern="1200" dirty="0"/>
        </a:p>
      </dsp:txBody>
      <dsp:txXfrm>
        <a:off x="0" y="1087834"/>
        <a:ext cx="6221150" cy="1087834"/>
      </dsp:txXfrm>
    </dsp:sp>
    <dsp:sp modelId="{3C646EBD-184B-476C-9787-1DCBA8F12D42}">
      <dsp:nvSpPr>
        <dsp:cNvPr id="0" name=""/>
        <dsp:cNvSpPr/>
      </dsp:nvSpPr>
      <dsp:spPr>
        <a:xfrm>
          <a:off x="0" y="2175669"/>
          <a:ext cx="622115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152DA-5FD6-4103-B78F-866AC76A77B7}">
      <dsp:nvSpPr>
        <dsp:cNvPr id="0" name=""/>
        <dsp:cNvSpPr/>
      </dsp:nvSpPr>
      <dsp:spPr>
        <a:xfrm>
          <a:off x="0" y="2175669"/>
          <a:ext cx="622115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b="1" kern="1200" dirty="0" err="1"/>
            <a:t>Database</a:t>
          </a:r>
          <a:r>
            <a:rPr lang="hu-HU" sz="3000" b="1" kern="1200" dirty="0"/>
            <a:t>: </a:t>
          </a:r>
          <a:r>
            <a:rPr lang="hu-HU" sz="3000" kern="1200" dirty="0" err="1"/>
            <a:t>MySQL</a:t>
          </a:r>
          <a:r>
            <a:rPr lang="hu-HU" sz="3000" kern="1200" dirty="0"/>
            <a:t>, MAMP</a:t>
          </a:r>
          <a:endParaRPr lang="en-US" sz="3000" kern="1200" dirty="0"/>
        </a:p>
      </dsp:txBody>
      <dsp:txXfrm>
        <a:off x="0" y="2175669"/>
        <a:ext cx="6221150" cy="1087834"/>
      </dsp:txXfrm>
    </dsp:sp>
    <dsp:sp modelId="{361253C7-32FA-4FCF-B717-543904F5B60A}">
      <dsp:nvSpPr>
        <dsp:cNvPr id="0" name=""/>
        <dsp:cNvSpPr/>
      </dsp:nvSpPr>
      <dsp:spPr>
        <a:xfrm>
          <a:off x="0" y="3263503"/>
          <a:ext cx="62211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6FCC0-102C-4773-B6A2-B55DACA99618}">
      <dsp:nvSpPr>
        <dsp:cNvPr id="0" name=""/>
        <dsp:cNvSpPr/>
      </dsp:nvSpPr>
      <dsp:spPr>
        <a:xfrm>
          <a:off x="0" y="3263503"/>
          <a:ext cx="622115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b="1" kern="1200" dirty="0"/>
            <a:t>Account </a:t>
          </a:r>
          <a:r>
            <a:rPr lang="hu-HU" sz="3000" b="1" kern="1200" dirty="0" err="1"/>
            <a:t>authentication</a:t>
          </a:r>
          <a:r>
            <a:rPr lang="hu-HU" sz="3000" b="1" kern="1200" dirty="0"/>
            <a:t>: </a:t>
          </a:r>
          <a:r>
            <a:rPr lang="hu-HU" sz="3000" kern="1200" dirty="0"/>
            <a:t>JWT</a:t>
          </a:r>
          <a:endParaRPr lang="en-US" sz="3000" kern="1200" dirty="0"/>
        </a:p>
      </dsp:txBody>
      <dsp:txXfrm>
        <a:off x="0" y="3263503"/>
        <a:ext cx="622115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9C9668-9E20-132B-D3A7-7F81CE79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F2CC63F-AD4D-6271-49D3-A6BE45077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6D8C7B3-4193-30A1-1A8F-F315598E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B068976-8823-2E69-11AD-8F81803E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9F969E9-0CBB-53CE-9023-C2E9D2D6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804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72F3DB-693D-45B7-21FE-AC4AC50D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F154D5-F421-ED6B-78FC-2301BD3EF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C9E63C7-8430-5211-645C-9C0E16B0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326502-5529-DF1B-D0A4-AD95C17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7B487B-6580-32E0-7B0C-F6A2188F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7533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0D583A-F0B4-1E5C-C249-8F194228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C1CD477-C855-1208-8259-7BDAD0539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4A2B2B4-3500-A40F-4A63-1A751C17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35A8AB1-1DDC-98A2-B522-B3FDE8C3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0BEF8A-FBD1-076E-34B2-8AB717CC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41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EE38D7-B18A-EBA1-82D6-5FE64B71C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06F709-2AC2-D4B0-3B2F-C74FEBAD1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8ABAB05-D9E1-5E3F-17F2-90AB82DF3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2F59D90-9F4C-CFC0-D5DD-67B7C6F8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AD6BEEE-D195-D89C-3BEC-CD7EC0FE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5B5D5C8-6E12-C8B2-6C88-1D466B8D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30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BB1DF8-4EF1-2D6E-AB0C-54147234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C50076-126F-37FA-3F03-ABB04197B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881E4D5-CDEF-1706-1265-7C62E0B1C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E7AB44A-92C4-C265-5BA6-4D477DB41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9C08E93-B63C-444C-B522-86E12D252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768EF85-12FF-BF60-4F74-0ADB6C10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27EF57A-FF61-1EE9-963E-54847B99F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074323E-5CD0-344C-F198-CB295B7E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2847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983E40-FEB8-5421-CDDA-2D555910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625005A-9371-DC5E-ADD4-4BC64C9BE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9E65047-6EAD-8E68-F60B-9CB76C2A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447E98F-9E57-A983-E033-DC4A986C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8285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15F5CC9-1CAC-C101-C0FB-90AA21F4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1632781-CB23-5926-2B06-896C1537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0D59845-27AB-AF87-F3C2-CD8997CF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147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57EA3E-7F39-32F7-152C-B4959A2D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A501D2-44AE-ADE2-8DCE-8BA0F3F64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EBC9CB8-D486-597F-332F-C9DDE7709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26F6172-0CFD-AABF-7744-7E807219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2D5D361-EA59-9B35-563B-C0D447B61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7618028-0BD6-2479-B121-AE4F71EA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436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AB13A4-F31D-101E-E002-27350E76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8885003-4867-D4CD-B7B7-1AE81761D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69FFD4A-56EA-AFD0-B9FE-A525C84FF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42E7F4E-2FD6-7FBF-BD49-4E70BC2E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79BA05F-983E-CDF7-5FD5-93F3FFF5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444C8C4-2F54-F2AD-3421-B111CC82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42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67E323-F057-FCF5-EA52-11A32342B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325C584-70FA-3424-51EC-1351AC007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8EE3E0D-9161-504B-4300-6D62B080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2EF9A2E-44CD-CAD6-55E8-6900B07B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EB89C59-7849-CE5B-B50D-039EEEBB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685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0291EF5-690F-AC25-59EF-C89346B86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DCA1D66-23D6-663F-4A49-2922F6CDC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F7D0B4-A155-B15B-A88B-58B7818A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0257E5A-B3ED-26D3-1FC7-E11F83F79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EA78B71-647A-A847-23CB-3B19000C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779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647FACE-8765-8EC0-83F0-2CF063345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F98A7EA-98B9-F20D-E8F8-1D2C9A594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229F02-0C93-6795-6FA2-2DE5CDA8D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29E5B-233F-41B5-BB54-8F33C38A09E7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79C482-AABE-CA23-77A5-44EBB4E0C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E4A884F-E060-E8F7-C9AF-D46EF087B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47D1B-20CE-4CCA-8BDC-46E920A6B0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967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62B13"/>
          </a:solidFill>
          <a:latin typeface="Aptos Black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62B13"/>
          </a:solidFill>
          <a:latin typeface="Abadi" panose="020B06040201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62B13"/>
          </a:solidFill>
          <a:latin typeface="Abadi" panose="020B06040201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62B13"/>
          </a:solidFill>
          <a:latin typeface="Abadi" panose="020B06040201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62B13"/>
          </a:solidFill>
          <a:latin typeface="Abadi" panose="020B06040201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62B13"/>
          </a:solidFill>
          <a:latin typeface="Abadi" panose="020B06040201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diagramData" Target="../diagrams/data1.xml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25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6000"/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ABDB9C-D3C5-2D11-1B14-7A6DB6DE1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 err="1"/>
              <a:t>Final</a:t>
            </a:r>
            <a:r>
              <a:rPr lang="hu-HU" dirty="0"/>
              <a:t> </a:t>
            </a:r>
            <a:r>
              <a:rPr lang="hu-HU" dirty="0" err="1"/>
              <a:t>Exam</a:t>
            </a:r>
            <a:r>
              <a:rPr lang="hu-HU" dirty="0"/>
              <a:t> Project</a:t>
            </a:r>
            <a:br>
              <a:rPr lang="hu-HU" dirty="0"/>
            </a:br>
            <a:r>
              <a:rPr lang="hu-HU" dirty="0" err="1"/>
              <a:t>Yume</a:t>
            </a:r>
            <a:r>
              <a:rPr lang="hu-HU" dirty="0"/>
              <a:t> </a:t>
            </a:r>
            <a:r>
              <a:rPr lang="hu-HU" dirty="0" err="1"/>
              <a:t>Neko</a:t>
            </a:r>
            <a:r>
              <a:rPr lang="hu-HU" dirty="0"/>
              <a:t> Café </a:t>
            </a:r>
            <a:r>
              <a:rPr lang="hu-HU" dirty="0" err="1"/>
              <a:t>Webpage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F0505DB-4E1C-5D47-F789-2C43E2038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By</a:t>
            </a:r>
            <a:r>
              <a:rPr lang="hu-HU" dirty="0"/>
              <a:t>: Pataki Dóra, Horváth Cintia</a:t>
            </a:r>
          </a:p>
        </p:txBody>
      </p:sp>
    </p:spTree>
    <p:extLst>
      <p:ext uri="{BB962C8B-B14F-4D97-AF65-F5344CB8AC3E}">
        <p14:creationId xmlns:p14="http://schemas.microsoft.com/office/powerpoint/2010/main" val="175881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A képen fekete, rajz, sötétség, fekete-fehé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9FBBE44-7F52-09B5-3967-8AF9F31A9F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5000"/>
                    </a14:imgEffect>
                    <a14:imgEffect>
                      <a14:saturation sat="198000"/>
                    </a14:imgEffect>
                    <a14:imgEffect>
                      <a14:brightnessContrast brigh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42" y="-431320"/>
            <a:ext cx="11604302" cy="705359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6C480B0-74AC-C276-DE87-615189D6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Project idea </a:t>
            </a:r>
            <a:r>
              <a:rPr lang="hu-HU" dirty="0" err="1"/>
              <a:t>showcase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492619B-B1E3-7A27-E75D-C1946FCCE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08985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Why was this website made?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Due to high demand from regular customers</a:t>
            </a:r>
            <a:endParaRPr lang="hu-HU" dirty="0"/>
          </a:p>
          <a:p>
            <a:pPr>
              <a:lnSpc>
                <a:spcPct val="100000"/>
              </a:lnSpc>
            </a:pPr>
            <a:r>
              <a:rPr lang="en-US" dirty="0"/>
              <a:t>Why did we choose this project?</a:t>
            </a:r>
            <a:endParaRPr lang="hu-HU" dirty="0"/>
          </a:p>
          <a:p>
            <a:pPr lvl="1">
              <a:lnSpc>
                <a:spcPct val="100000"/>
              </a:lnSpc>
            </a:pPr>
            <a:r>
              <a:rPr lang="en-US" dirty="0"/>
              <a:t>Because we love cats and the atmosphere of coffee shops</a:t>
            </a:r>
            <a:endParaRPr lang="hu-HU" dirty="0"/>
          </a:p>
          <a:p>
            <a:pPr>
              <a:lnSpc>
                <a:spcPct val="100000"/>
              </a:lnSpc>
            </a:pPr>
            <a:r>
              <a:rPr lang="hu-HU" dirty="0"/>
              <a:t>Dreams and </a:t>
            </a:r>
            <a:r>
              <a:rPr lang="hu-HU" dirty="0" err="1"/>
              <a:t>Cats</a:t>
            </a:r>
            <a:endParaRPr lang="hu-HU" dirty="0"/>
          </a:p>
          <a:p>
            <a:pPr lvl="1">
              <a:lnSpc>
                <a:spcPct val="100000"/>
              </a:lnSpc>
            </a:pPr>
            <a:r>
              <a:rPr lang="hu-HU" dirty="0" err="1"/>
              <a:t>What</a:t>
            </a:r>
            <a:r>
              <a:rPr lang="hu-HU" dirty="0"/>
              <a:t> </a:t>
            </a:r>
            <a:r>
              <a:rPr lang="hu-HU" dirty="0" err="1"/>
              <a:t>inspired</a:t>
            </a:r>
            <a:r>
              <a:rPr lang="hu-HU" dirty="0"/>
              <a:t> </a:t>
            </a:r>
            <a:r>
              <a:rPr lang="hu-HU" dirty="0" err="1"/>
              <a:t>us</a:t>
            </a:r>
            <a:r>
              <a:rPr lang="hu-HU" dirty="0"/>
              <a:t>?</a:t>
            </a:r>
          </a:p>
        </p:txBody>
      </p:sp>
      <p:pic>
        <p:nvPicPr>
          <p:cNvPr id="5" name="Kép 4" descr="A képen macska, clipart, rajzfilm, Animációs fil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07A51FD-F48C-3221-AB2A-75C34229B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182" y="2525414"/>
            <a:ext cx="4341962" cy="4341962"/>
          </a:xfrm>
          <a:prstGeom prst="rect">
            <a:avLst/>
          </a:prstGeom>
        </p:spPr>
      </p:pic>
      <p:sp>
        <p:nvSpPr>
          <p:cNvPr id="10" name="Tartalom helye 2">
            <a:extLst>
              <a:ext uri="{FF2B5EF4-FFF2-40B4-BE49-F238E27FC236}">
                <a16:creationId xmlns:a16="http://schemas.microsoft.com/office/drawing/2014/main" id="{52639006-4802-2117-179C-7B0D6D582AD2}"/>
              </a:ext>
            </a:extLst>
          </p:cNvPr>
          <p:cNvSpPr txBox="1">
            <a:spLocks/>
          </p:cNvSpPr>
          <p:nvPr/>
        </p:nvSpPr>
        <p:spPr>
          <a:xfrm>
            <a:off x="2083279" y="5115643"/>
            <a:ext cx="5418825" cy="55191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i="1" dirty="0" err="1"/>
              <a:t>Yume</a:t>
            </a:r>
            <a:r>
              <a:rPr lang="hu-HU" i="1" dirty="0"/>
              <a:t> </a:t>
            </a:r>
            <a:r>
              <a:rPr lang="hu-HU" i="1" dirty="0" err="1"/>
              <a:t>Neko</a:t>
            </a:r>
            <a:r>
              <a:rPr lang="hu-HU" i="1" dirty="0"/>
              <a:t> Café = </a:t>
            </a:r>
            <a:r>
              <a:rPr lang="hu-HU" i="1" dirty="0" err="1"/>
              <a:t>Dream</a:t>
            </a:r>
            <a:r>
              <a:rPr lang="hu-HU" i="1" dirty="0"/>
              <a:t> </a:t>
            </a:r>
            <a:r>
              <a:rPr lang="hu-HU" i="1" dirty="0" err="1"/>
              <a:t>Cat</a:t>
            </a:r>
            <a:r>
              <a:rPr lang="hu-HU" i="1" dirty="0"/>
              <a:t> Café</a:t>
            </a:r>
          </a:p>
        </p:txBody>
      </p:sp>
    </p:spTree>
    <p:extLst>
      <p:ext uri="{BB962C8B-B14F-4D97-AF65-F5344CB8AC3E}">
        <p14:creationId xmlns:p14="http://schemas.microsoft.com/office/powerpoint/2010/main" val="29634946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A képen fekete, rajz, sötétség, fekete-fehé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2F37885-10A1-DBA7-32B3-F934B96EBB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5000"/>
                    </a14:imgEffect>
                    <a14:imgEffect>
                      <a14:saturation sat="198000"/>
                    </a14:imgEffect>
                    <a14:imgEffect>
                      <a14:brightnessContrast brigh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49" y="-328849"/>
            <a:ext cx="11604302" cy="705359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0DD2321-E873-A70E-563E-05199CC2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430" y="133257"/>
            <a:ext cx="10515600" cy="1325563"/>
          </a:xfrm>
        </p:spPr>
        <p:txBody>
          <a:bodyPr/>
          <a:lstStyle/>
          <a:p>
            <a:r>
              <a:rPr lang="hu-HU" dirty="0"/>
              <a:t>Real-life </a:t>
            </a:r>
            <a:r>
              <a:rPr lang="hu-HU" dirty="0" err="1"/>
              <a:t>problem</a:t>
            </a:r>
            <a:r>
              <a:rPr lang="hu-HU" dirty="0"/>
              <a:t> </a:t>
            </a:r>
            <a:r>
              <a:rPr lang="hu-HU" dirty="0" err="1"/>
              <a:t>solving</a:t>
            </a:r>
            <a:endParaRPr lang="hu-HU" dirty="0"/>
          </a:p>
        </p:txBody>
      </p:sp>
      <p:sp>
        <p:nvSpPr>
          <p:cNvPr id="4" name="Ellipszis 3">
            <a:extLst>
              <a:ext uri="{FF2B5EF4-FFF2-40B4-BE49-F238E27FC236}">
                <a16:creationId xmlns:a16="http://schemas.microsoft.com/office/drawing/2014/main" id="{2D46A650-803B-F517-E171-BB877EC245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2757" y="1573913"/>
            <a:ext cx="2656217" cy="1095378"/>
          </a:xfrm>
          <a:prstGeom prst="ellipse">
            <a:avLst/>
          </a:prstGeom>
          <a:solidFill>
            <a:srgbClr val="362B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7169DC-C3B1-0C1A-5E60-1395EBE603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1208776" y="1857498"/>
            <a:ext cx="2224177" cy="528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b="1" dirty="0">
                <a:solidFill>
                  <a:schemeClr val="bg1"/>
                </a:solidFill>
              </a:rPr>
              <a:t>The </a:t>
            </a:r>
            <a:r>
              <a:rPr lang="hu-HU" b="1" dirty="0" err="1">
                <a:solidFill>
                  <a:schemeClr val="bg1"/>
                </a:solidFill>
              </a:rPr>
              <a:t>problem</a:t>
            </a:r>
            <a:r>
              <a:rPr lang="hu-HU" b="1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5" name="Kép 4" descr="A képen emlős, macska, Kis- és közepes méretű macskák, házimacs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F5CB4F1-4E87-C8B4-60D2-7ED064B075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495" y="3294826"/>
            <a:ext cx="4480435" cy="25153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Ellipszis 5">
            <a:extLst>
              <a:ext uri="{FF2B5EF4-FFF2-40B4-BE49-F238E27FC236}">
                <a16:creationId xmlns:a16="http://schemas.microsoft.com/office/drawing/2014/main" id="{7898A220-8C0E-0CFB-1E5F-8831FF5AF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6847" y="3666157"/>
            <a:ext cx="2656217" cy="1095377"/>
          </a:xfrm>
          <a:prstGeom prst="ellipse">
            <a:avLst/>
          </a:prstGeom>
          <a:solidFill>
            <a:srgbClr val="7D57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artalom helye 2">
            <a:extLst>
              <a:ext uri="{FF2B5EF4-FFF2-40B4-BE49-F238E27FC236}">
                <a16:creationId xmlns:a16="http://schemas.microsoft.com/office/drawing/2014/main" id="{E311A2CB-0E0A-F406-BA71-7A6969E186F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607" y="3997951"/>
            <a:ext cx="2254705" cy="5282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b="1" dirty="0">
                <a:solidFill>
                  <a:schemeClr val="bg1"/>
                </a:solidFill>
              </a:rPr>
              <a:t>The </a:t>
            </a:r>
            <a:r>
              <a:rPr lang="hu-HU" b="1" dirty="0" err="1">
                <a:solidFill>
                  <a:schemeClr val="bg1"/>
                </a:solidFill>
              </a:rPr>
              <a:t>solution</a:t>
            </a:r>
            <a:r>
              <a:rPr lang="hu-HU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B6CC6C50-746C-5EFF-4717-7ACA226BEF72}"/>
              </a:ext>
            </a:extLst>
          </p:cNvPr>
          <p:cNvSpPr txBox="1">
            <a:spLocks/>
          </p:cNvSpPr>
          <p:nvPr/>
        </p:nvSpPr>
        <p:spPr>
          <a:xfrm>
            <a:off x="1132078" y="178220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dirty="0"/>
          </a:p>
        </p:txBody>
      </p:sp>
      <p:sp>
        <p:nvSpPr>
          <p:cNvPr id="13" name="Tartalom helye 2">
            <a:extLst>
              <a:ext uri="{FF2B5EF4-FFF2-40B4-BE49-F238E27FC236}">
                <a16:creationId xmlns:a16="http://schemas.microsoft.com/office/drawing/2014/main" id="{34267AC3-2D84-7C8C-7725-D557A500EA95}"/>
              </a:ext>
            </a:extLst>
          </p:cNvPr>
          <p:cNvSpPr txBox="1">
            <a:spLocks/>
          </p:cNvSpPr>
          <p:nvPr/>
        </p:nvSpPr>
        <p:spPr>
          <a:xfrm>
            <a:off x="5921653" y="1458820"/>
            <a:ext cx="681201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3200" b="1" dirty="0" err="1"/>
              <a:t>Social</a:t>
            </a:r>
            <a:r>
              <a:rPr lang="hu-HU" sz="3200" b="1" dirty="0"/>
              <a:t> </a:t>
            </a:r>
            <a:r>
              <a:rPr lang="hu-HU" sz="3200" b="1" dirty="0" err="1"/>
              <a:t>responsibility</a:t>
            </a:r>
            <a:r>
              <a:rPr lang="hu-HU" sz="3200" b="1" dirty="0"/>
              <a:t>:</a:t>
            </a:r>
          </a:p>
          <a:p>
            <a:pPr marL="0" indent="0">
              <a:buNone/>
            </a:pPr>
            <a:r>
              <a:rPr lang="en-US" sz="2600" dirty="0"/>
              <a:t>All our cats are rescues, and we promote responsible pet care.</a:t>
            </a:r>
            <a:endParaRPr lang="hu-HU" sz="2600" dirty="0"/>
          </a:p>
        </p:txBody>
      </p:sp>
      <p:sp>
        <p:nvSpPr>
          <p:cNvPr id="14" name="Tartalom helye 2">
            <a:extLst>
              <a:ext uri="{FF2B5EF4-FFF2-40B4-BE49-F238E27FC236}">
                <a16:creationId xmlns:a16="http://schemas.microsoft.com/office/drawing/2014/main" id="{2813D299-6682-425D-7D55-5EBA023C7767}"/>
              </a:ext>
            </a:extLst>
          </p:cNvPr>
          <p:cNvSpPr txBox="1">
            <a:spLocks/>
          </p:cNvSpPr>
          <p:nvPr/>
        </p:nvSpPr>
        <p:spPr>
          <a:xfrm>
            <a:off x="2632716" y="2773504"/>
            <a:ext cx="3999383" cy="1280262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/>
              <a:t>Many get pets without </a:t>
            </a:r>
            <a:r>
              <a:rPr lang="hu-HU" sz="6000" dirty="0" err="1"/>
              <a:t>giving</a:t>
            </a:r>
            <a:r>
              <a:rPr lang="hu-HU" sz="6000" dirty="0"/>
              <a:t> </a:t>
            </a:r>
            <a:r>
              <a:rPr lang="hu-HU" sz="6000" dirty="0" err="1"/>
              <a:t>them</a:t>
            </a:r>
            <a:r>
              <a:rPr lang="hu-HU" sz="6000" dirty="0"/>
              <a:t> </a:t>
            </a:r>
            <a:r>
              <a:rPr lang="en-US" sz="6000" dirty="0"/>
              <a:t>proper care.</a:t>
            </a:r>
          </a:p>
          <a:p>
            <a:r>
              <a:rPr lang="en-US" sz="6000" dirty="0"/>
              <a:t>Post-Covid social struggles</a:t>
            </a:r>
            <a:r>
              <a:rPr lang="en-US" dirty="0"/>
              <a:t>.</a:t>
            </a:r>
            <a:endParaRPr lang="hu-HU" dirty="0"/>
          </a:p>
        </p:txBody>
      </p:sp>
      <p:sp>
        <p:nvSpPr>
          <p:cNvPr id="16" name="Tartalom helye 2">
            <a:extLst>
              <a:ext uri="{FF2B5EF4-FFF2-40B4-BE49-F238E27FC236}">
                <a16:creationId xmlns:a16="http://schemas.microsoft.com/office/drawing/2014/main" id="{7FAAB816-96F6-1BE6-6B72-47D4B1454F33}"/>
              </a:ext>
            </a:extLst>
          </p:cNvPr>
          <p:cNvSpPr txBox="1">
            <a:spLocks/>
          </p:cNvSpPr>
          <p:nvPr/>
        </p:nvSpPr>
        <p:spPr>
          <a:xfrm>
            <a:off x="2133586" y="4862738"/>
            <a:ext cx="5132716" cy="1495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We take in cats from owners who can't care for them.</a:t>
            </a:r>
          </a:p>
          <a:p>
            <a:r>
              <a:rPr lang="en-US" sz="2400" dirty="0"/>
              <a:t>A relaxing space to socialize and make friends.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2733042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  <p:bldP spid="6" grpId="0" animBg="1"/>
      <p:bldP spid="11" grpId="0"/>
      <p:bldP spid="13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8C44BAC6-A420-1341-FC25-905FF3C3C3CB}"/>
              </a:ext>
            </a:extLst>
          </p:cNvPr>
          <p:cNvSpPr/>
          <p:nvPr/>
        </p:nvSpPr>
        <p:spPr>
          <a:xfrm>
            <a:off x="603849" y="1414732"/>
            <a:ext cx="10749951" cy="5141343"/>
          </a:xfrm>
          <a:prstGeom prst="roundRect">
            <a:avLst/>
          </a:prstGeom>
          <a:solidFill>
            <a:schemeClr val="bg1"/>
          </a:solidFill>
          <a:ln w="38100">
            <a:noFill/>
            <a:extLst>
              <a:ext uri="{C807C97D-BFC1-408E-A445-0C87EB9F89A2}">
                <ask:lineSketchStyleProps xmlns:ask="http://schemas.microsoft.com/office/drawing/2018/sketchyshapes" sd="610681456">
                  <a:custGeom>
                    <a:avLst/>
                    <a:gdLst>
                      <a:gd name="connsiteX0" fmla="*/ 0 w 10749951"/>
                      <a:gd name="connsiteY0" fmla="*/ 856908 h 5141343"/>
                      <a:gd name="connsiteX1" fmla="*/ 856908 w 10749951"/>
                      <a:gd name="connsiteY1" fmla="*/ 0 h 5141343"/>
                      <a:gd name="connsiteX2" fmla="*/ 9893043 w 10749951"/>
                      <a:gd name="connsiteY2" fmla="*/ 0 h 5141343"/>
                      <a:gd name="connsiteX3" fmla="*/ 10749951 w 10749951"/>
                      <a:gd name="connsiteY3" fmla="*/ 856908 h 5141343"/>
                      <a:gd name="connsiteX4" fmla="*/ 10749951 w 10749951"/>
                      <a:gd name="connsiteY4" fmla="*/ 4284435 h 5141343"/>
                      <a:gd name="connsiteX5" fmla="*/ 9893043 w 10749951"/>
                      <a:gd name="connsiteY5" fmla="*/ 5141343 h 5141343"/>
                      <a:gd name="connsiteX6" fmla="*/ 856908 w 10749951"/>
                      <a:gd name="connsiteY6" fmla="*/ 5141343 h 5141343"/>
                      <a:gd name="connsiteX7" fmla="*/ 0 w 10749951"/>
                      <a:gd name="connsiteY7" fmla="*/ 4284435 h 5141343"/>
                      <a:gd name="connsiteX8" fmla="*/ 0 w 10749951"/>
                      <a:gd name="connsiteY8" fmla="*/ 856908 h 51413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49951" h="5141343" fill="none" extrusionOk="0">
                        <a:moveTo>
                          <a:pt x="0" y="856908"/>
                        </a:moveTo>
                        <a:cubicBezTo>
                          <a:pt x="-33856" y="456528"/>
                          <a:pt x="399783" y="-29061"/>
                          <a:pt x="856908" y="0"/>
                        </a:cubicBezTo>
                        <a:cubicBezTo>
                          <a:pt x="1820822" y="92373"/>
                          <a:pt x="7515884" y="-87622"/>
                          <a:pt x="9893043" y="0"/>
                        </a:cubicBezTo>
                        <a:cubicBezTo>
                          <a:pt x="10324547" y="5652"/>
                          <a:pt x="10754299" y="334545"/>
                          <a:pt x="10749951" y="856908"/>
                        </a:cubicBezTo>
                        <a:cubicBezTo>
                          <a:pt x="10891695" y="2312913"/>
                          <a:pt x="10725306" y="2830847"/>
                          <a:pt x="10749951" y="4284435"/>
                        </a:cubicBezTo>
                        <a:cubicBezTo>
                          <a:pt x="10809688" y="4794642"/>
                          <a:pt x="10388039" y="5182663"/>
                          <a:pt x="9893043" y="5141343"/>
                        </a:cubicBezTo>
                        <a:cubicBezTo>
                          <a:pt x="6341025" y="5203032"/>
                          <a:pt x="4862814" y="5205194"/>
                          <a:pt x="856908" y="5141343"/>
                        </a:cubicBezTo>
                        <a:cubicBezTo>
                          <a:pt x="402572" y="5229172"/>
                          <a:pt x="-92390" y="4744300"/>
                          <a:pt x="0" y="4284435"/>
                        </a:cubicBezTo>
                        <a:cubicBezTo>
                          <a:pt x="163498" y="3821763"/>
                          <a:pt x="-117004" y="2170644"/>
                          <a:pt x="0" y="856908"/>
                        </a:cubicBezTo>
                        <a:close/>
                      </a:path>
                      <a:path w="10749951" h="5141343" stroke="0" extrusionOk="0">
                        <a:moveTo>
                          <a:pt x="0" y="856908"/>
                        </a:moveTo>
                        <a:cubicBezTo>
                          <a:pt x="39842" y="425533"/>
                          <a:pt x="383206" y="79628"/>
                          <a:pt x="856908" y="0"/>
                        </a:cubicBezTo>
                        <a:cubicBezTo>
                          <a:pt x="2741917" y="-80861"/>
                          <a:pt x="6470385" y="-29155"/>
                          <a:pt x="9893043" y="0"/>
                        </a:cubicBezTo>
                        <a:cubicBezTo>
                          <a:pt x="10398315" y="-76869"/>
                          <a:pt x="10693919" y="330341"/>
                          <a:pt x="10749951" y="856908"/>
                        </a:cubicBezTo>
                        <a:cubicBezTo>
                          <a:pt x="10750197" y="2432800"/>
                          <a:pt x="10892255" y="3819383"/>
                          <a:pt x="10749951" y="4284435"/>
                        </a:cubicBezTo>
                        <a:cubicBezTo>
                          <a:pt x="10753398" y="4781829"/>
                          <a:pt x="10377327" y="5141771"/>
                          <a:pt x="9893043" y="5141343"/>
                        </a:cubicBezTo>
                        <a:cubicBezTo>
                          <a:pt x="8317754" y="5057767"/>
                          <a:pt x="4110022" y="5245377"/>
                          <a:pt x="856908" y="5141343"/>
                        </a:cubicBezTo>
                        <a:cubicBezTo>
                          <a:pt x="377660" y="5094193"/>
                          <a:pt x="5950" y="4812513"/>
                          <a:pt x="0" y="4284435"/>
                        </a:cubicBezTo>
                        <a:cubicBezTo>
                          <a:pt x="-55422" y="3686647"/>
                          <a:pt x="-85707" y="1313542"/>
                          <a:pt x="0" y="85690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14E8A4F-A034-7141-AE6A-E14C5C89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Design </a:t>
            </a:r>
            <a:r>
              <a:rPr lang="hu-HU" dirty="0" err="1"/>
              <a:t>breakdown</a:t>
            </a:r>
            <a:r>
              <a:rPr lang="hu-HU" dirty="0"/>
              <a:t> - </a:t>
            </a:r>
            <a:r>
              <a:rPr lang="hu-HU" dirty="0" err="1"/>
              <a:t>Logo</a:t>
            </a:r>
            <a:endParaRPr lang="hu-HU" dirty="0"/>
          </a:p>
        </p:txBody>
      </p:sp>
      <p:pic>
        <p:nvPicPr>
          <p:cNvPr id="9" name="Tartalom helye 8" descr="A képen macska, rajzfil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2079864-0C47-3522-3BFA-070C2A0D2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952" y="2379374"/>
            <a:ext cx="3215872" cy="3237358"/>
          </a:xfrm>
        </p:spPr>
      </p:pic>
      <p:sp>
        <p:nvSpPr>
          <p:cNvPr id="11" name="Tartalom helye 2">
            <a:extLst>
              <a:ext uri="{FF2B5EF4-FFF2-40B4-BE49-F238E27FC236}">
                <a16:creationId xmlns:a16="http://schemas.microsoft.com/office/drawing/2014/main" id="{B4D8D6F5-7636-E5C3-BBAD-BEA2512ABE8C}"/>
              </a:ext>
            </a:extLst>
          </p:cNvPr>
          <p:cNvSpPr txBox="1">
            <a:spLocks/>
          </p:cNvSpPr>
          <p:nvPr/>
        </p:nvSpPr>
        <p:spPr>
          <a:xfrm>
            <a:off x="6337111" y="1738976"/>
            <a:ext cx="3414623" cy="114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dirty="0"/>
          </a:p>
        </p:txBody>
      </p:sp>
      <p:sp>
        <p:nvSpPr>
          <p:cNvPr id="13" name="Tartalom helye 2">
            <a:extLst>
              <a:ext uri="{FF2B5EF4-FFF2-40B4-BE49-F238E27FC236}">
                <a16:creationId xmlns:a16="http://schemas.microsoft.com/office/drawing/2014/main" id="{42FF9703-F065-F7EE-70AB-A9964E1046E7}"/>
              </a:ext>
            </a:extLst>
          </p:cNvPr>
          <p:cNvSpPr txBox="1">
            <a:spLocks/>
          </p:cNvSpPr>
          <p:nvPr/>
        </p:nvSpPr>
        <p:spPr>
          <a:xfrm>
            <a:off x="838200" y="2060958"/>
            <a:ext cx="2472000" cy="88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3600" i="1" dirty="0"/>
              <a:t>Main </a:t>
            </a:r>
            <a:r>
              <a:rPr lang="hu-HU" sz="3600" i="1" dirty="0" err="1"/>
              <a:t>Logo</a:t>
            </a:r>
            <a:r>
              <a:rPr lang="hu-HU" sz="3600" i="1" dirty="0"/>
              <a:t>:</a:t>
            </a:r>
            <a:endParaRPr lang="hu-HU" i="1" dirty="0"/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7327942D-5D3A-916C-4EF2-8F28BCECB9AE}"/>
              </a:ext>
            </a:extLst>
          </p:cNvPr>
          <p:cNvCxnSpPr>
            <a:cxnSpLocks/>
          </p:cNvCxnSpPr>
          <p:nvPr/>
        </p:nvCxnSpPr>
        <p:spPr>
          <a:xfrm flipV="1">
            <a:off x="5313872" y="2407336"/>
            <a:ext cx="1802920" cy="541110"/>
          </a:xfrm>
          <a:prstGeom prst="straightConnector1">
            <a:avLst/>
          </a:prstGeom>
          <a:ln w="57150">
            <a:solidFill>
              <a:srgbClr val="362B1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E5C8A4B0-B7ED-7A3E-2B3C-54EFBAA8D00C}"/>
              </a:ext>
            </a:extLst>
          </p:cNvPr>
          <p:cNvCxnSpPr>
            <a:cxnSpLocks/>
          </p:cNvCxnSpPr>
          <p:nvPr/>
        </p:nvCxnSpPr>
        <p:spPr>
          <a:xfrm>
            <a:off x="5080958" y="3562709"/>
            <a:ext cx="2294627" cy="0"/>
          </a:xfrm>
          <a:prstGeom prst="straightConnector1">
            <a:avLst/>
          </a:prstGeom>
          <a:ln w="57150">
            <a:solidFill>
              <a:srgbClr val="605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65ACE24A-EE94-D29D-1629-E0A0B40F7B30}"/>
              </a:ext>
            </a:extLst>
          </p:cNvPr>
          <p:cNvCxnSpPr>
            <a:cxnSpLocks/>
          </p:cNvCxnSpPr>
          <p:nvPr/>
        </p:nvCxnSpPr>
        <p:spPr>
          <a:xfrm>
            <a:off x="5313872" y="4087667"/>
            <a:ext cx="1958196" cy="589045"/>
          </a:xfrm>
          <a:prstGeom prst="straightConnector1">
            <a:avLst/>
          </a:prstGeom>
          <a:ln w="57150">
            <a:solidFill>
              <a:srgbClr val="ACB0B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artalom helye 2">
            <a:extLst>
              <a:ext uri="{FF2B5EF4-FFF2-40B4-BE49-F238E27FC236}">
                <a16:creationId xmlns:a16="http://schemas.microsoft.com/office/drawing/2014/main" id="{4CC75CF0-8E7C-A4ED-349C-D619F20DD5D7}"/>
              </a:ext>
            </a:extLst>
          </p:cNvPr>
          <p:cNvSpPr txBox="1">
            <a:spLocks/>
          </p:cNvSpPr>
          <p:nvPr/>
        </p:nvSpPr>
        <p:spPr>
          <a:xfrm>
            <a:off x="7470475" y="3267188"/>
            <a:ext cx="3414623" cy="114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Cat: The main figure of the logo</a:t>
            </a:r>
            <a:endParaRPr lang="hu-HU" dirty="0"/>
          </a:p>
        </p:txBody>
      </p:sp>
      <p:sp>
        <p:nvSpPr>
          <p:cNvPr id="25" name="Tartalom helye 2">
            <a:extLst>
              <a:ext uri="{FF2B5EF4-FFF2-40B4-BE49-F238E27FC236}">
                <a16:creationId xmlns:a16="http://schemas.microsoft.com/office/drawing/2014/main" id="{DCECB16D-55D8-DEFD-9F72-EA01492F7E32}"/>
              </a:ext>
            </a:extLst>
          </p:cNvPr>
          <p:cNvSpPr txBox="1">
            <a:spLocks/>
          </p:cNvSpPr>
          <p:nvPr/>
        </p:nvSpPr>
        <p:spPr>
          <a:xfrm>
            <a:off x="7413152" y="2261483"/>
            <a:ext cx="3414623" cy="114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 err="1"/>
              <a:t>Title</a:t>
            </a:r>
            <a:r>
              <a:rPr lang="hu-HU" dirty="0"/>
              <a:t>: </a:t>
            </a:r>
            <a:r>
              <a:rPr lang="hu-HU" dirty="0" err="1"/>
              <a:t>meaning</a:t>
            </a:r>
            <a:r>
              <a:rPr lang="hu-HU" dirty="0"/>
              <a:t> - </a:t>
            </a:r>
            <a:r>
              <a:rPr lang="hu-HU" dirty="0" err="1"/>
              <a:t>Dream</a:t>
            </a:r>
            <a:r>
              <a:rPr lang="hu-HU" dirty="0"/>
              <a:t> </a:t>
            </a:r>
            <a:r>
              <a:rPr lang="hu-HU" dirty="0" err="1"/>
              <a:t>Cat</a:t>
            </a:r>
            <a:endParaRPr lang="hu-HU" dirty="0"/>
          </a:p>
        </p:txBody>
      </p:sp>
      <p:sp>
        <p:nvSpPr>
          <p:cNvPr id="26" name="Tartalom helye 2">
            <a:extLst>
              <a:ext uri="{FF2B5EF4-FFF2-40B4-BE49-F238E27FC236}">
                <a16:creationId xmlns:a16="http://schemas.microsoft.com/office/drawing/2014/main" id="{8D25B11B-F79E-7369-A378-039D1A6EAEE6}"/>
              </a:ext>
            </a:extLst>
          </p:cNvPr>
          <p:cNvSpPr txBox="1">
            <a:spLocks/>
          </p:cNvSpPr>
          <p:nvPr/>
        </p:nvSpPr>
        <p:spPr>
          <a:xfrm>
            <a:off x="7470475" y="4408779"/>
            <a:ext cx="3752490" cy="1870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Stars and Moon: it</a:t>
            </a:r>
            <a:r>
              <a:rPr lang="hu-HU" dirty="0"/>
              <a:t>’</a:t>
            </a:r>
            <a:r>
              <a:rPr lang="en-US" dirty="0"/>
              <a:t>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en-US" dirty="0"/>
              <a:t> symbol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en-US" dirty="0"/>
              <a:t>dream</a:t>
            </a:r>
            <a:r>
              <a:rPr lang="hu-HU" dirty="0"/>
              <a:t>s</a:t>
            </a:r>
            <a:r>
              <a:rPr lang="en-US" dirty="0"/>
              <a:t> and a calm atmosphere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536498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3C0A-CF21-3C71-FB69-6820004C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1141CFB2-E4E8-4871-1F22-E8BC69E8D497}"/>
              </a:ext>
            </a:extLst>
          </p:cNvPr>
          <p:cNvSpPr/>
          <p:nvPr/>
        </p:nvSpPr>
        <p:spPr>
          <a:xfrm>
            <a:off x="601329" y="1415619"/>
            <a:ext cx="10749951" cy="5141343"/>
          </a:xfrm>
          <a:custGeom>
            <a:avLst/>
            <a:gdLst>
              <a:gd name="connsiteX0" fmla="*/ 0 w 10749951"/>
              <a:gd name="connsiteY0" fmla="*/ 856908 h 5141343"/>
              <a:gd name="connsiteX1" fmla="*/ 856908 w 10749951"/>
              <a:gd name="connsiteY1" fmla="*/ 0 h 5141343"/>
              <a:gd name="connsiteX2" fmla="*/ 9893043 w 10749951"/>
              <a:gd name="connsiteY2" fmla="*/ 0 h 5141343"/>
              <a:gd name="connsiteX3" fmla="*/ 10749951 w 10749951"/>
              <a:gd name="connsiteY3" fmla="*/ 856908 h 5141343"/>
              <a:gd name="connsiteX4" fmla="*/ 10749951 w 10749951"/>
              <a:gd name="connsiteY4" fmla="*/ 4284435 h 5141343"/>
              <a:gd name="connsiteX5" fmla="*/ 9893043 w 10749951"/>
              <a:gd name="connsiteY5" fmla="*/ 5141343 h 5141343"/>
              <a:gd name="connsiteX6" fmla="*/ 856908 w 10749951"/>
              <a:gd name="connsiteY6" fmla="*/ 5141343 h 5141343"/>
              <a:gd name="connsiteX7" fmla="*/ 0 w 10749951"/>
              <a:gd name="connsiteY7" fmla="*/ 4284435 h 5141343"/>
              <a:gd name="connsiteX8" fmla="*/ 0 w 10749951"/>
              <a:gd name="connsiteY8" fmla="*/ 856908 h 5141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9951" h="5141343" fill="none" extrusionOk="0">
                <a:moveTo>
                  <a:pt x="0" y="856908"/>
                </a:moveTo>
                <a:cubicBezTo>
                  <a:pt x="4495" y="370575"/>
                  <a:pt x="411169" y="-2488"/>
                  <a:pt x="856908" y="0"/>
                </a:cubicBezTo>
                <a:cubicBezTo>
                  <a:pt x="2872605" y="150616"/>
                  <a:pt x="5675020" y="-121098"/>
                  <a:pt x="9893043" y="0"/>
                </a:cubicBezTo>
                <a:cubicBezTo>
                  <a:pt x="10333337" y="27071"/>
                  <a:pt x="10800897" y="415668"/>
                  <a:pt x="10749951" y="856908"/>
                </a:cubicBezTo>
                <a:cubicBezTo>
                  <a:pt x="10872037" y="2315871"/>
                  <a:pt x="10666773" y="2820109"/>
                  <a:pt x="10749951" y="4284435"/>
                </a:cubicBezTo>
                <a:cubicBezTo>
                  <a:pt x="10743434" y="4770642"/>
                  <a:pt x="10387313" y="5171547"/>
                  <a:pt x="9893043" y="5141343"/>
                </a:cubicBezTo>
                <a:cubicBezTo>
                  <a:pt x="7465585" y="4994269"/>
                  <a:pt x="4256782" y="5256054"/>
                  <a:pt x="856908" y="5141343"/>
                </a:cubicBezTo>
                <a:cubicBezTo>
                  <a:pt x="304683" y="5125053"/>
                  <a:pt x="-21726" y="4742242"/>
                  <a:pt x="0" y="4284435"/>
                </a:cubicBezTo>
                <a:cubicBezTo>
                  <a:pt x="67205" y="2727860"/>
                  <a:pt x="-112523" y="1797608"/>
                  <a:pt x="0" y="856908"/>
                </a:cubicBezTo>
                <a:close/>
              </a:path>
              <a:path w="10749951" h="5141343" stroke="0" extrusionOk="0">
                <a:moveTo>
                  <a:pt x="0" y="856908"/>
                </a:moveTo>
                <a:cubicBezTo>
                  <a:pt x="23177" y="411160"/>
                  <a:pt x="406455" y="16273"/>
                  <a:pt x="856908" y="0"/>
                </a:cubicBezTo>
                <a:cubicBezTo>
                  <a:pt x="3576368" y="124641"/>
                  <a:pt x="6064115" y="-54576"/>
                  <a:pt x="9893043" y="0"/>
                </a:cubicBezTo>
                <a:cubicBezTo>
                  <a:pt x="10453455" y="11471"/>
                  <a:pt x="10724529" y="335713"/>
                  <a:pt x="10749951" y="856908"/>
                </a:cubicBezTo>
                <a:cubicBezTo>
                  <a:pt x="10878161" y="2337568"/>
                  <a:pt x="10757186" y="3090854"/>
                  <a:pt x="10749951" y="4284435"/>
                </a:cubicBezTo>
                <a:cubicBezTo>
                  <a:pt x="10743092" y="4706291"/>
                  <a:pt x="10337189" y="5127914"/>
                  <a:pt x="9893043" y="5141343"/>
                </a:cubicBezTo>
                <a:cubicBezTo>
                  <a:pt x="6426754" y="5244116"/>
                  <a:pt x="4968558" y="5165198"/>
                  <a:pt x="856908" y="5141343"/>
                </a:cubicBezTo>
                <a:cubicBezTo>
                  <a:pt x="403010" y="5083473"/>
                  <a:pt x="-37423" y="4791224"/>
                  <a:pt x="0" y="4284435"/>
                </a:cubicBezTo>
                <a:cubicBezTo>
                  <a:pt x="-24516" y="3873267"/>
                  <a:pt x="-125674" y="2537872"/>
                  <a:pt x="0" y="856908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4A3B32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500320615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C527FEC-172D-4E29-0D06-955316A7D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Design </a:t>
            </a:r>
            <a:r>
              <a:rPr lang="hu-HU" dirty="0" err="1"/>
              <a:t>breakdown</a:t>
            </a:r>
            <a:r>
              <a:rPr lang="hu-HU" dirty="0"/>
              <a:t>– </a:t>
            </a:r>
            <a:r>
              <a:rPr lang="hu-HU" dirty="0" err="1"/>
              <a:t>Colour</a:t>
            </a:r>
            <a:r>
              <a:rPr lang="hu-HU" dirty="0"/>
              <a:t> </a:t>
            </a:r>
            <a:r>
              <a:rPr lang="hu-HU" dirty="0" err="1"/>
              <a:t>palette</a:t>
            </a:r>
            <a:endParaRPr lang="hu-HU" dirty="0"/>
          </a:p>
        </p:txBody>
      </p:sp>
      <p:pic>
        <p:nvPicPr>
          <p:cNvPr id="5" name="Kép 4" descr="A képen képernyőkép, Téglala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46E3B9A-DF4A-2D76-6A99-A98566C42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865" y="1595934"/>
            <a:ext cx="2328858" cy="2217463"/>
          </a:xfrm>
          <a:prstGeom prst="rect">
            <a:avLst/>
          </a:prstGeom>
        </p:spPr>
      </p:pic>
      <p:pic>
        <p:nvPicPr>
          <p:cNvPr id="7" name="Kép 6" descr="A képen képernyőkép, Téglalap, tér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AFF4CC8-D15C-912D-7DC9-D05785855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289" y="3322956"/>
            <a:ext cx="2376849" cy="2315720"/>
          </a:xfrm>
          <a:prstGeom prst="rect">
            <a:avLst/>
          </a:prstGeom>
        </p:spPr>
      </p:pic>
      <p:sp>
        <p:nvSpPr>
          <p:cNvPr id="11" name="Tartalom helye 2">
            <a:extLst>
              <a:ext uri="{FF2B5EF4-FFF2-40B4-BE49-F238E27FC236}">
                <a16:creationId xmlns:a16="http://schemas.microsoft.com/office/drawing/2014/main" id="{E419BDB3-1DD9-8305-F4FB-D6D2EBD03219}"/>
              </a:ext>
            </a:extLst>
          </p:cNvPr>
          <p:cNvSpPr txBox="1">
            <a:spLocks/>
          </p:cNvSpPr>
          <p:nvPr/>
        </p:nvSpPr>
        <p:spPr>
          <a:xfrm>
            <a:off x="6337111" y="1738976"/>
            <a:ext cx="3414623" cy="114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dirty="0"/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697FDC6E-77D5-9F7F-67EE-960088690782}"/>
              </a:ext>
            </a:extLst>
          </p:cNvPr>
          <p:cNvSpPr txBox="1">
            <a:spLocks/>
          </p:cNvSpPr>
          <p:nvPr/>
        </p:nvSpPr>
        <p:spPr>
          <a:xfrm>
            <a:off x="1661594" y="3268853"/>
            <a:ext cx="2472000" cy="88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u-HU" dirty="0"/>
          </a:p>
        </p:txBody>
      </p:sp>
      <p:sp>
        <p:nvSpPr>
          <p:cNvPr id="14" name="Tartalom helye 2">
            <a:extLst>
              <a:ext uri="{FF2B5EF4-FFF2-40B4-BE49-F238E27FC236}">
                <a16:creationId xmlns:a16="http://schemas.microsoft.com/office/drawing/2014/main" id="{14126498-EFA5-8E62-B230-EABB1417D487}"/>
              </a:ext>
            </a:extLst>
          </p:cNvPr>
          <p:cNvSpPr txBox="1">
            <a:spLocks/>
          </p:cNvSpPr>
          <p:nvPr/>
        </p:nvSpPr>
        <p:spPr>
          <a:xfrm>
            <a:off x="8950851" y="3861685"/>
            <a:ext cx="2472000" cy="88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>
                <a:solidFill>
                  <a:srgbClr val="4A3B32"/>
                </a:solidFill>
              </a:rPr>
              <a:t>Home Page</a:t>
            </a:r>
            <a:endParaRPr lang="hu-HU" sz="2000" dirty="0">
              <a:solidFill>
                <a:srgbClr val="4A3B32"/>
              </a:solidFill>
            </a:endParaRPr>
          </a:p>
        </p:txBody>
      </p:sp>
      <p:sp>
        <p:nvSpPr>
          <p:cNvPr id="15" name="Tartalom helye 2">
            <a:extLst>
              <a:ext uri="{FF2B5EF4-FFF2-40B4-BE49-F238E27FC236}">
                <a16:creationId xmlns:a16="http://schemas.microsoft.com/office/drawing/2014/main" id="{12478D5F-C8FB-082B-2119-8CA39CD87C66}"/>
              </a:ext>
            </a:extLst>
          </p:cNvPr>
          <p:cNvSpPr txBox="1">
            <a:spLocks/>
          </p:cNvSpPr>
          <p:nvPr/>
        </p:nvSpPr>
        <p:spPr>
          <a:xfrm>
            <a:off x="6738853" y="5591979"/>
            <a:ext cx="2472000" cy="88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 err="1">
                <a:solidFill>
                  <a:srgbClr val="8D6E63"/>
                </a:solidFill>
              </a:rPr>
              <a:t>Menu</a:t>
            </a:r>
            <a:r>
              <a:rPr lang="hu-HU" dirty="0">
                <a:solidFill>
                  <a:srgbClr val="8D6E63"/>
                </a:solidFill>
              </a:rPr>
              <a:t> Page</a:t>
            </a:r>
            <a:endParaRPr lang="hu-HU" sz="2000" dirty="0">
              <a:solidFill>
                <a:srgbClr val="8D6E63"/>
              </a:solidFill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78169BC-E353-6BA8-3764-8EA8832EEA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2784672"/>
              </p:ext>
            </p:extLst>
          </p:nvPr>
        </p:nvGraphicFramePr>
        <p:xfrm>
          <a:off x="-859413" y="1416275"/>
          <a:ext cx="5819601" cy="2740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zövegdoboz 12">
            <a:extLst>
              <a:ext uri="{FF2B5EF4-FFF2-40B4-BE49-F238E27FC236}">
                <a16:creationId xmlns:a16="http://schemas.microsoft.com/office/drawing/2014/main" id="{DC37859F-9B0D-0746-B7D3-5C076A2821F5}"/>
              </a:ext>
            </a:extLst>
          </p:cNvPr>
          <p:cNvSpPr txBox="1"/>
          <p:nvPr/>
        </p:nvSpPr>
        <p:spPr>
          <a:xfrm>
            <a:off x="1755324" y="4640072"/>
            <a:ext cx="3491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EA77A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Warm beige and brown shades</a:t>
            </a:r>
            <a:endParaRPr lang="hu-HU" sz="2800" dirty="0">
              <a:solidFill>
                <a:srgbClr val="CEA77A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6C6F874C-F646-4EEB-A3D0-E14082D4E298}"/>
              </a:ext>
            </a:extLst>
          </p:cNvPr>
          <p:cNvSpPr txBox="1"/>
          <p:nvPr/>
        </p:nvSpPr>
        <p:spPr>
          <a:xfrm>
            <a:off x="4137174" y="2211272"/>
            <a:ext cx="3211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err="1">
                <a:solidFill>
                  <a:srgbClr val="8D6E6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Coffee</a:t>
            </a:r>
            <a:r>
              <a:rPr lang="hu-HU" sz="2800" dirty="0">
                <a:solidFill>
                  <a:srgbClr val="8D6E6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and </a:t>
            </a:r>
            <a:r>
              <a:rPr lang="hu-HU" sz="2800" dirty="0" err="1">
                <a:solidFill>
                  <a:srgbClr val="8D6E6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latte</a:t>
            </a:r>
            <a:r>
              <a:rPr lang="hu-HU" sz="2800" dirty="0">
                <a:solidFill>
                  <a:srgbClr val="8D6E6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hu-HU" sz="2800" dirty="0" err="1">
                <a:solidFill>
                  <a:srgbClr val="8D6E6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shades</a:t>
            </a:r>
            <a:endParaRPr lang="hu-HU" sz="2800" dirty="0">
              <a:solidFill>
                <a:srgbClr val="8D6E63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698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A495-0EEE-76F7-2486-408F4F7A0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7D0C617A-D7F8-4095-71DE-7099349B88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00201"/>
            <a:ext cx="12192000" cy="5512279"/>
          </a:xfrm>
          <a:prstGeom prst="rect">
            <a:avLst/>
          </a:prstGeom>
          <a:solidFill>
            <a:srgbClr val="362B1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230A505-A651-DCF0-8B8C-6A3F51D6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Design </a:t>
            </a:r>
            <a:r>
              <a:rPr lang="hu-HU" dirty="0" err="1"/>
              <a:t>breakdown</a:t>
            </a:r>
            <a:r>
              <a:rPr lang="hu-HU" dirty="0"/>
              <a:t> – </a:t>
            </a:r>
            <a:r>
              <a:rPr lang="hu-HU" dirty="0" err="1"/>
              <a:t>Items</a:t>
            </a:r>
            <a:endParaRPr lang="hu-HU" dirty="0"/>
          </a:p>
        </p:txBody>
      </p:sp>
      <p:sp>
        <p:nvSpPr>
          <p:cNvPr id="11" name="Tartalom helye 2">
            <a:extLst>
              <a:ext uri="{FF2B5EF4-FFF2-40B4-BE49-F238E27FC236}">
                <a16:creationId xmlns:a16="http://schemas.microsoft.com/office/drawing/2014/main" id="{AB8CD4F1-1A1C-0861-8BDD-A2C05ABCBF65}"/>
              </a:ext>
            </a:extLst>
          </p:cNvPr>
          <p:cNvSpPr txBox="1">
            <a:spLocks/>
          </p:cNvSpPr>
          <p:nvPr/>
        </p:nvSpPr>
        <p:spPr>
          <a:xfrm>
            <a:off x="6337111" y="1738976"/>
            <a:ext cx="3414623" cy="114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dirty="0"/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8C4696BA-5C18-D422-C6F5-49EDBDF328CC}"/>
              </a:ext>
            </a:extLst>
          </p:cNvPr>
          <p:cNvSpPr txBox="1">
            <a:spLocks/>
          </p:cNvSpPr>
          <p:nvPr/>
        </p:nvSpPr>
        <p:spPr>
          <a:xfrm>
            <a:off x="1661594" y="3268853"/>
            <a:ext cx="2472000" cy="88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2B13"/>
                </a:solidFill>
                <a:latin typeface="Abadi" panose="020B06040201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u-HU" dirty="0"/>
          </a:p>
        </p:txBody>
      </p:sp>
      <p:pic>
        <p:nvPicPr>
          <p:cNvPr id="61" name="Kép 60" descr="A képen születésnapi torta, desszert, Ételszínezék, húsvé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6145D56-A364-DD58-B58D-3B6C7F009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103" y="3684749"/>
            <a:ext cx="2657004" cy="26570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5" name="Kép 64" descr="A képen kávé, ital, étel, kávéscsésze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1D0B6F2-6291-365B-DBAA-A4E5F472EF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5" t="5892" r="-1191" b="1789"/>
          <a:stretch/>
        </p:blipFill>
        <p:spPr>
          <a:xfrm>
            <a:off x="7002411" y="1604514"/>
            <a:ext cx="2039027" cy="20094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9" name="Kép 68" descr="A képen étel, húsvét, Ételszínezék, cukrászáru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11D2CE2-FCC9-14C8-2F0A-7415A8C8D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6" y="4020416"/>
            <a:ext cx="3540632" cy="226130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1" name="Kép 70" descr="A képen étel, Gyorsétel, Amerikai étel, Falatkák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3EE2DE8-068C-1428-1193-FC108AA8C1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33" y="1682885"/>
            <a:ext cx="3255141" cy="20789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3" name="Kép 72" descr="A képen játék, fedett pályás, macska, csésze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29136A8-F19B-C8EE-550A-0357F869B0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065" y="1739952"/>
            <a:ext cx="2973053" cy="17247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5" name="Kép 74" descr="A képen Konyha, étel, edény, tojá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7BC8EFE-DC4F-A37B-4ACD-CE72DED3F1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" t="-913" r="-633" b="913"/>
          <a:stretch/>
        </p:blipFill>
        <p:spPr>
          <a:xfrm>
            <a:off x="9184927" y="1604514"/>
            <a:ext cx="2749323" cy="183400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7" name="Kép 76" descr="A képen étel, Konyha, macska, fedett pályá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5B6B341-6445-3C7D-1FA3-CAA93C49FE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621" y="3770436"/>
            <a:ext cx="2485630" cy="248563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9" name="Kép 78" descr="A képen desszert, Ételszínezék, Édesség, Pékáru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82CF4D1-2C94-6A79-ABB3-F8146295FB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6952" y="3941518"/>
            <a:ext cx="2340200" cy="2340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Háromszög 3">
            <a:extLst>
              <a:ext uri="{FF2B5EF4-FFF2-40B4-BE49-F238E27FC236}">
                <a16:creationId xmlns:a16="http://schemas.microsoft.com/office/drawing/2014/main" id="{2F321BFA-453D-0A32-211D-8E56A09AE9D1}"/>
              </a:ext>
            </a:extLst>
          </p:cNvPr>
          <p:cNvSpPr/>
          <p:nvPr/>
        </p:nvSpPr>
        <p:spPr>
          <a:xfrm>
            <a:off x="9997956" y="1118561"/>
            <a:ext cx="310551" cy="287393"/>
          </a:xfrm>
          <a:custGeom>
            <a:avLst/>
            <a:gdLst>
              <a:gd name="connsiteX0" fmla="*/ 0 w 310551"/>
              <a:gd name="connsiteY0" fmla="*/ 287393 h 287393"/>
              <a:gd name="connsiteX1" fmla="*/ 155276 w 310551"/>
              <a:gd name="connsiteY1" fmla="*/ 0 h 287393"/>
              <a:gd name="connsiteX2" fmla="*/ 310551 w 310551"/>
              <a:gd name="connsiteY2" fmla="*/ 287393 h 287393"/>
              <a:gd name="connsiteX3" fmla="*/ 0 w 310551"/>
              <a:gd name="connsiteY3" fmla="*/ 287393 h 28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1" h="287393" fill="none" extrusionOk="0">
                <a:moveTo>
                  <a:pt x="0" y="287393"/>
                </a:moveTo>
                <a:cubicBezTo>
                  <a:pt x="31720" y="178335"/>
                  <a:pt x="154908" y="80790"/>
                  <a:pt x="155276" y="0"/>
                </a:cubicBezTo>
                <a:cubicBezTo>
                  <a:pt x="228849" y="102877"/>
                  <a:pt x="253324" y="188938"/>
                  <a:pt x="310551" y="287393"/>
                </a:cubicBezTo>
                <a:cubicBezTo>
                  <a:pt x="178558" y="296259"/>
                  <a:pt x="115727" y="268783"/>
                  <a:pt x="0" y="287393"/>
                </a:cubicBezTo>
                <a:close/>
              </a:path>
              <a:path w="310551" h="287393" stroke="0" extrusionOk="0">
                <a:moveTo>
                  <a:pt x="0" y="287393"/>
                </a:moveTo>
                <a:cubicBezTo>
                  <a:pt x="49257" y="144689"/>
                  <a:pt x="113176" y="96523"/>
                  <a:pt x="155276" y="0"/>
                </a:cubicBezTo>
                <a:cubicBezTo>
                  <a:pt x="243341" y="121531"/>
                  <a:pt x="229337" y="205844"/>
                  <a:pt x="310551" y="287393"/>
                </a:cubicBezTo>
                <a:cubicBezTo>
                  <a:pt x="234203" y="319862"/>
                  <a:pt x="89017" y="255100"/>
                  <a:pt x="0" y="287393"/>
                </a:cubicBezTo>
                <a:close/>
              </a:path>
            </a:pathLst>
          </a:custGeom>
          <a:solidFill>
            <a:srgbClr val="362B13"/>
          </a:solidFill>
          <a:ln>
            <a:solidFill>
              <a:srgbClr val="362B13"/>
            </a:solidFill>
            <a:extLst>
              <a:ext uri="{C807C97D-BFC1-408E-A445-0C87EB9F89A2}">
                <ask:lineSketchStyleProps xmlns:ask="http://schemas.microsoft.com/office/drawing/2018/sketchyshapes" sd="3828699564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Háromszög 4">
            <a:extLst>
              <a:ext uri="{FF2B5EF4-FFF2-40B4-BE49-F238E27FC236}">
                <a16:creationId xmlns:a16="http://schemas.microsoft.com/office/drawing/2014/main" id="{D852F82B-6122-7F59-85FC-F1A0F3A1C512}"/>
              </a:ext>
            </a:extLst>
          </p:cNvPr>
          <p:cNvSpPr/>
          <p:nvPr/>
        </p:nvSpPr>
        <p:spPr>
          <a:xfrm>
            <a:off x="10377476" y="1112808"/>
            <a:ext cx="310551" cy="287393"/>
          </a:xfrm>
          <a:custGeom>
            <a:avLst/>
            <a:gdLst>
              <a:gd name="connsiteX0" fmla="*/ 0 w 310551"/>
              <a:gd name="connsiteY0" fmla="*/ 287393 h 287393"/>
              <a:gd name="connsiteX1" fmla="*/ 155276 w 310551"/>
              <a:gd name="connsiteY1" fmla="*/ 0 h 287393"/>
              <a:gd name="connsiteX2" fmla="*/ 310551 w 310551"/>
              <a:gd name="connsiteY2" fmla="*/ 287393 h 287393"/>
              <a:gd name="connsiteX3" fmla="*/ 0 w 310551"/>
              <a:gd name="connsiteY3" fmla="*/ 287393 h 28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1" h="287393" fill="none" extrusionOk="0">
                <a:moveTo>
                  <a:pt x="0" y="287393"/>
                </a:moveTo>
                <a:cubicBezTo>
                  <a:pt x="31720" y="178335"/>
                  <a:pt x="154908" y="80790"/>
                  <a:pt x="155276" y="0"/>
                </a:cubicBezTo>
                <a:cubicBezTo>
                  <a:pt x="228849" y="102877"/>
                  <a:pt x="253324" y="188938"/>
                  <a:pt x="310551" y="287393"/>
                </a:cubicBezTo>
                <a:cubicBezTo>
                  <a:pt x="178558" y="296259"/>
                  <a:pt x="115727" y="268783"/>
                  <a:pt x="0" y="287393"/>
                </a:cubicBezTo>
                <a:close/>
              </a:path>
              <a:path w="310551" h="287393" stroke="0" extrusionOk="0">
                <a:moveTo>
                  <a:pt x="0" y="287393"/>
                </a:moveTo>
                <a:cubicBezTo>
                  <a:pt x="49257" y="144689"/>
                  <a:pt x="113176" y="96523"/>
                  <a:pt x="155276" y="0"/>
                </a:cubicBezTo>
                <a:cubicBezTo>
                  <a:pt x="243341" y="121531"/>
                  <a:pt x="229337" y="205844"/>
                  <a:pt x="310551" y="287393"/>
                </a:cubicBezTo>
                <a:cubicBezTo>
                  <a:pt x="234203" y="319862"/>
                  <a:pt x="89017" y="255100"/>
                  <a:pt x="0" y="287393"/>
                </a:cubicBezTo>
                <a:close/>
              </a:path>
            </a:pathLst>
          </a:custGeom>
          <a:solidFill>
            <a:srgbClr val="362B13"/>
          </a:solidFill>
          <a:ln>
            <a:solidFill>
              <a:srgbClr val="362B13"/>
            </a:solidFill>
            <a:extLst>
              <a:ext uri="{C807C97D-BFC1-408E-A445-0C87EB9F89A2}">
                <ask:lineSketchStyleProps xmlns:ask="http://schemas.microsoft.com/office/drawing/2018/sketchyshapes" sd="3828699564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9E2EE171-28D7-35AA-0A74-1029CC18BB1D}"/>
              </a:ext>
            </a:extLst>
          </p:cNvPr>
          <p:cNvSpPr/>
          <p:nvPr/>
        </p:nvSpPr>
        <p:spPr>
          <a:xfrm>
            <a:off x="10075333" y="1208339"/>
            <a:ext cx="543784" cy="346911"/>
          </a:xfrm>
          <a:prstGeom prst="ellipse">
            <a:avLst/>
          </a:prstGeom>
          <a:solidFill>
            <a:srgbClr val="362B13"/>
          </a:solidFill>
          <a:ln>
            <a:solidFill>
              <a:srgbClr val="362B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B478A33-4F34-9FA6-45A7-64F9CB6D7DFF}"/>
              </a:ext>
            </a:extLst>
          </p:cNvPr>
          <p:cNvSpPr txBox="1"/>
          <p:nvPr/>
        </p:nvSpPr>
        <p:spPr>
          <a:xfrm>
            <a:off x="10118843" y="1040692"/>
            <a:ext cx="1324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>
                <a:solidFill>
                  <a:srgbClr val="FBE8D1"/>
                </a:solidFill>
              </a:rPr>
              <a:t>. .</a:t>
            </a:r>
          </a:p>
        </p:txBody>
      </p:sp>
    </p:spTree>
    <p:extLst>
      <p:ext uri="{BB962C8B-B14F-4D97-AF65-F5344CB8AC3E}">
        <p14:creationId xmlns:p14="http://schemas.microsoft.com/office/powerpoint/2010/main" val="3273065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D6F8277-5EF2-70BC-01CF-3F1E4659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Abadi" panose="020B0604020104020204" pitchFamily="34" charset="0"/>
              </a:rPr>
              <a:t>Figma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design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Tartalom helye 6" descr="A képen szöveg, macska, képernyőkép, kolláz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191BAB6-0D2E-D87C-C65E-500EA4CD2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788" y="149412"/>
            <a:ext cx="7880451" cy="6816591"/>
          </a:xfrm>
          <a:prstGeom prst="rect">
            <a:avLst/>
          </a:prstGeom>
        </p:spPr>
      </p:pic>
      <p:pic>
        <p:nvPicPr>
          <p:cNvPr id="4" name="Kép 3" descr="A képen rajzfilm, emlős, szöve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B8F3615-0AE3-8C5C-EA5F-42B1C15CE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49" y="4763674"/>
            <a:ext cx="3834940" cy="115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55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6F23C56-C208-8F82-4B3F-F97228CE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planning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Tartalom helye 5" descr="A képen szöveg, képernyőkép, szoftver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C027004-BA24-1A3C-A92B-EA9E3F3A0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27" y="426092"/>
            <a:ext cx="8273697" cy="570228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Ábra 6" descr="Macska egyszínű kitöltéssel">
            <a:extLst>
              <a:ext uri="{FF2B5EF4-FFF2-40B4-BE49-F238E27FC236}">
                <a16:creationId xmlns:a16="http://schemas.microsoft.com/office/drawing/2014/main" id="{34478153-541C-6747-D3B1-9EC80E75B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586" y="5520907"/>
            <a:ext cx="810782" cy="74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2250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D9E3BB-46B5-547F-83EF-047FC7B9F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13" y="598766"/>
            <a:ext cx="10515600" cy="1325563"/>
          </a:xfrm>
        </p:spPr>
        <p:txBody>
          <a:bodyPr>
            <a:normAutofit/>
          </a:bodyPr>
          <a:lstStyle/>
          <a:p>
            <a:r>
              <a:rPr lang="hu-HU" b="1" dirty="0" err="1"/>
              <a:t>Technological</a:t>
            </a:r>
            <a:r>
              <a:rPr lang="hu-HU" b="1" dirty="0"/>
              <a:t> </a:t>
            </a:r>
            <a:r>
              <a:rPr lang="hu-HU" b="1" dirty="0" err="1"/>
              <a:t>stack</a:t>
            </a:r>
            <a:br>
              <a:rPr lang="hu-HU" dirty="0"/>
            </a:br>
            <a:endParaRPr lang="hu-HU" dirty="0"/>
          </a:p>
        </p:txBody>
      </p:sp>
      <p:graphicFrame>
        <p:nvGraphicFramePr>
          <p:cNvPr id="23" name="Tartalom helye 2">
            <a:extLst>
              <a:ext uri="{FF2B5EF4-FFF2-40B4-BE49-F238E27FC236}">
                <a16:creationId xmlns:a16="http://schemas.microsoft.com/office/drawing/2014/main" id="{BB61D9B8-5107-00AF-4ACD-9355C7FEE9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013713"/>
              </p:ext>
            </p:extLst>
          </p:nvPr>
        </p:nvGraphicFramePr>
        <p:xfrm>
          <a:off x="694961" y="1530662"/>
          <a:ext cx="622115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7" name="Kép 16" descr="A képen embléma, Grafika, Betűtípus, szöve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3A0D3C2-E075-D42C-8FE4-56C99AFD09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0" t="156" r="16296" b="30344"/>
          <a:stretch/>
        </p:blipFill>
        <p:spPr>
          <a:xfrm>
            <a:off x="10185441" y="2982135"/>
            <a:ext cx="1130155" cy="1076846"/>
          </a:xfrm>
          <a:prstGeom prst="flowChartConnector">
            <a:avLst/>
          </a:prstGeom>
        </p:spPr>
      </p:pic>
      <p:pic>
        <p:nvPicPr>
          <p:cNvPr id="7" name="Kép 6" descr="A képen Téglalap, Színesség, képernyőkép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EC8228D-DE9A-2C59-5403-247FD3F784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288" y="2422527"/>
            <a:ext cx="1130155" cy="1303242"/>
          </a:xfrm>
          <a:prstGeom prst="rect">
            <a:avLst/>
          </a:prstGeom>
        </p:spPr>
      </p:pic>
      <p:pic>
        <p:nvPicPr>
          <p:cNvPr id="9" name="Kép 8" descr="A képen Színesség, Grafika, képernyőkép, Grafikus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5CBDA5A-4D91-6C36-D2B5-476F1E722E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790" y="4848163"/>
            <a:ext cx="1186922" cy="1186922"/>
          </a:xfrm>
          <a:prstGeom prst="rect">
            <a:avLst/>
          </a:prstGeom>
        </p:spPr>
      </p:pic>
      <p:pic>
        <p:nvPicPr>
          <p:cNvPr id="11" name="Kép 10" descr="A képen clipart, szimbólum, vázlat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D5CE0C0-D0D2-2D35-9223-EDE50B581C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794" y="4031973"/>
            <a:ext cx="1130155" cy="1186921"/>
          </a:xfrm>
          <a:prstGeom prst="flowChartConnector">
            <a:avLst/>
          </a:prstGeom>
        </p:spPr>
      </p:pic>
      <p:pic>
        <p:nvPicPr>
          <p:cNvPr id="5" name="Kép 4" descr="A képen képernyőkép, Színesség, Grafika, kö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38C40BF-EBFF-F72E-51CA-5E0569587D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735" y="1243149"/>
            <a:ext cx="1260584" cy="1260584"/>
          </a:xfrm>
          <a:prstGeom prst="rect">
            <a:avLst/>
          </a:prstGeom>
        </p:spPr>
      </p:pic>
      <p:pic>
        <p:nvPicPr>
          <p:cNvPr id="15" name="Kép 14" descr="A képen szöveg, embléma, Grafika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4E8C812-ACB2-1649-4AA9-23A616755C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7" r="7846"/>
          <a:stretch/>
        </p:blipFill>
        <p:spPr>
          <a:xfrm>
            <a:off x="7936003" y="3863782"/>
            <a:ext cx="1067967" cy="1076846"/>
          </a:xfrm>
          <a:prstGeom prst="flowChartConnector">
            <a:avLst/>
          </a:prstGeom>
        </p:spPr>
      </p:pic>
      <p:pic>
        <p:nvPicPr>
          <p:cNvPr id="19" name="Kép 18" descr="A képen Grafika, képernyőkép, sor, szimbólu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FDADA5B-FC21-D886-4BAA-5B0862012A1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754" y="870719"/>
            <a:ext cx="1319887" cy="1319887"/>
          </a:xfrm>
          <a:prstGeom prst="rect">
            <a:avLst/>
          </a:prstGeom>
        </p:spPr>
      </p:pic>
      <p:pic>
        <p:nvPicPr>
          <p:cNvPr id="21" name="Kép 20" descr="A képen Grafika, szimbólum, Grafikus tervezés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1850F3A-C123-4AD9-36D3-3213FDE44D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279" y="1639106"/>
            <a:ext cx="1384156" cy="1102999"/>
          </a:xfrm>
          <a:prstGeom prst="rect">
            <a:avLst/>
          </a:prstGeom>
        </p:spPr>
      </p:pic>
      <p:pic>
        <p:nvPicPr>
          <p:cNvPr id="24" name="Ábra 23" descr="Cica egyszínű kitöltéssel">
            <a:extLst>
              <a:ext uri="{FF2B5EF4-FFF2-40B4-BE49-F238E27FC236}">
                <a16:creationId xmlns:a16="http://schemas.microsoft.com/office/drawing/2014/main" id="{3EF81AF5-8418-ED56-4281-9DAC59D200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6096000" y="698856"/>
            <a:ext cx="940250" cy="940250"/>
          </a:xfrm>
          <a:prstGeom prst="rect">
            <a:avLst/>
          </a:prstGeom>
        </p:spPr>
      </p:pic>
      <p:pic>
        <p:nvPicPr>
          <p:cNvPr id="4" name="Kép 3" descr="A képen Grafika, képernyőkép, kör, emblém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5CE972B-F7F0-D255-20A6-7341408F12B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604" y="2764884"/>
            <a:ext cx="1076845" cy="107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362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A785343-5D24-4118-A2E4-665D196F6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Kép 14" descr="A képen szöveg, képernyőkép, Betűtípus,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0427A0F-3EF7-C539-E87A-A08533638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397"/>
          <a:stretch/>
        </p:blipFill>
        <p:spPr>
          <a:xfrm>
            <a:off x="7381876" y="1"/>
            <a:ext cx="4810125" cy="2501837"/>
          </a:xfrm>
          <a:custGeom>
            <a:avLst/>
            <a:gdLst/>
            <a:ahLst/>
            <a:cxnLst/>
            <a:rect l="l" t="t" r="r" b="b"/>
            <a:pathLst>
              <a:path w="4810125" h="2501837">
                <a:moveTo>
                  <a:pt x="1159248" y="0"/>
                </a:moveTo>
                <a:lnTo>
                  <a:pt x="4810125" y="0"/>
                </a:lnTo>
                <a:lnTo>
                  <a:pt x="4810125" y="2501837"/>
                </a:lnTo>
                <a:lnTo>
                  <a:pt x="0" y="2501837"/>
                </a:lnTo>
                <a:close/>
              </a:path>
            </a:pathLst>
          </a:custGeom>
        </p:spPr>
      </p:pic>
      <p:pic>
        <p:nvPicPr>
          <p:cNvPr id="5" name="Kép 4" descr="A képen szöveg, képernyőkép, képernyő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C086FE1-90E2-0E2A-7BC7-61443D174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7" r="-3" b="5527"/>
          <a:stretch/>
        </p:blipFill>
        <p:spPr>
          <a:xfrm>
            <a:off x="5374639" y="2663706"/>
            <a:ext cx="4626927" cy="4197911"/>
          </a:xfrm>
          <a:custGeom>
            <a:avLst/>
            <a:gdLst/>
            <a:ahLst/>
            <a:cxnLst/>
            <a:rect l="l" t="t" r="r" b="b"/>
            <a:pathLst>
              <a:path w="4626927" h="4197911">
                <a:moveTo>
                  <a:pt x="1945141" y="0"/>
                </a:moveTo>
                <a:lnTo>
                  <a:pt x="1951364" y="0"/>
                </a:lnTo>
                <a:lnTo>
                  <a:pt x="3141155" y="0"/>
                </a:lnTo>
                <a:lnTo>
                  <a:pt x="4626927" y="0"/>
                </a:lnTo>
                <a:lnTo>
                  <a:pt x="2681786" y="4197911"/>
                </a:lnTo>
                <a:lnTo>
                  <a:pt x="0" y="4197911"/>
                </a:lnTo>
                <a:close/>
              </a:path>
            </a:pathLst>
          </a:cu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32F4D216-10B7-4DCA-A0A1-068E9E32F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2660091"/>
            <a:ext cx="7122523" cy="4197911"/>
          </a:xfrm>
          <a:custGeom>
            <a:avLst/>
            <a:gdLst>
              <a:gd name="connsiteX0" fmla="*/ 0 w 7122523"/>
              <a:gd name="connsiteY0" fmla="*/ 4197911 h 4197911"/>
              <a:gd name="connsiteX1" fmla="*/ 7122523 w 7122523"/>
              <a:gd name="connsiteY1" fmla="*/ 4197911 h 4197911"/>
              <a:gd name="connsiteX2" fmla="*/ 5177382 w 7122523"/>
              <a:gd name="connsiteY2" fmla="*/ 0 h 4197911"/>
              <a:gd name="connsiteX3" fmla="*/ 5171159 w 7122523"/>
              <a:gd name="connsiteY3" fmla="*/ 0 h 4197911"/>
              <a:gd name="connsiteX4" fmla="*/ 3981368 w 7122523"/>
              <a:gd name="connsiteY4" fmla="*/ 0 h 4197911"/>
              <a:gd name="connsiteX5" fmla="*/ 2331323 w 7122523"/>
              <a:gd name="connsiteY5" fmla="*/ 0 h 4197911"/>
              <a:gd name="connsiteX6" fmla="*/ 0 w 7122523"/>
              <a:gd name="connsiteY6" fmla="*/ 0 h 419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22523" h="4197911">
                <a:moveTo>
                  <a:pt x="0" y="4197911"/>
                </a:moveTo>
                <a:lnTo>
                  <a:pt x="7122523" y="4197911"/>
                </a:lnTo>
                <a:lnTo>
                  <a:pt x="5177382" y="0"/>
                </a:lnTo>
                <a:lnTo>
                  <a:pt x="5171159" y="0"/>
                </a:lnTo>
                <a:lnTo>
                  <a:pt x="3981368" y="0"/>
                </a:lnTo>
                <a:lnTo>
                  <a:pt x="2331323" y="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AE42B49-CF66-FB76-8D9C-81C5E887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8" y="3098042"/>
            <a:ext cx="5308979" cy="852985"/>
          </a:xfrm>
        </p:spPr>
        <p:txBody>
          <a:bodyPr>
            <a:normAutofit/>
          </a:bodyPr>
          <a:lstStyle/>
          <a:p>
            <a:r>
              <a:rPr lang="hu-HU" sz="2800" b="1" dirty="0">
                <a:solidFill>
                  <a:srgbClr val="FFFFFF"/>
                </a:solidFill>
              </a:rPr>
              <a:t>The </a:t>
            </a:r>
            <a:r>
              <a:rPr lang="hu-HU" sz="2800" b="1" dirty="0" err="1">
                <a:solidFill>
                  <a:srgbClr val="FFFFFF"/>
                </a:solidFill>
              </a:rPr>
              <a:t>website's</a:t>
            </a:r>
            <a:r>
              <a:rPr lang="hu-HU" sz="2800" b="1" dirty="0">
                <a:solidFill>
                  <a:srgbClr val="FFFFFF"/>
                </a:solidFill>
              </a:rPr>
              <a:t> </a:t>
            </a:r>
            <a:r>
              <a:rPr lang="hu-HU" sz="2800" b="1" dirty="0" err="1">
                <a:solidFill>
                  <a:srgbClr val="FFFFFF"/>
                </a:solidFill>
              </a:rPr>
              <a:t>functionality</a:t>
            </a:r>
            <a:br>
              <a:rPr lang="hu-HU" sz="2500" dirty="0">
                <a:solidFill>
                  <a:srgbClr val="FFFFFF"/>
                </a:solidFill>
              </a:rPr>
            </a:br>
            <a:endParaRPr lang="hu-HU" sz="2500" dirty="0">
              <a:solidFill>
                <a:srgbClr val="FFFFFF"/>
              </a:solidFill>
            </a:endParaRPr>
          </a:p>
        </p:txBody>
      </p:sp>
      <p:pic>
        <p:nvPicPr>
          <p:cNvPr id="7" name="Kép 6" descr="A képen szöveg, képernyőkép, Betűtípus, dokumentu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93B40DB-647C-F3E5-9D6F-2745A29AF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3" r="1" b="10198"/>
          <a:stretch/>
        </p:blipFill>
        <p:spPr>
          <a:xfrm>
            <a:off x="4675537" y="-1"/>
            <a:ext cx="3677817" cy="2505456"/>
          </a:xfrm>
          <a:custGeom>
            <a:avLst/>
            <a:gdLst/>
            <a:ahLst/>
            <a:cxnLst/>
            <a:rect l="l" t="t" r="r" b="b"/>
            <a:pathLst>
              <a:path w="3677817" h="2505456">
                <a:moveTo>
                  <a:pt x="1160926" y="0"/>
                </a:moveTo>
                <a:lnTo>
                  <a:pt x="3677817" y="0"/>
                </a:lnTo>
                <a:lnTo>
                  <a:pt x="2516891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11" name="Kép 10" descr="A képen emlős, macska, Kis- és közepes méretű macskák, házimacs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8CCDC66-8106-0557-9156-FF5C73E67D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>
          <a:xfrm>
            <a:off x="2280734" y="2"/>
            <a:ext cx="3393943" cy="2502843"/>
          </a:xfrm>
          <a:custGeom>
            <a:avLst/>
            <a:gdLst/>
            <a:ahLst/>
            <a:cxnLst/>
            <a:rect l="l" t="t" r="r" b="b"/>
            <a:pathLst>
              <a:path w="3393943" h="2502843">
                <a:moveTo>
                  <a:pt x="1159715" y="0"/>
                </a:moveTo>
                <a:lnTo>
                  <a:pt x="3393943" y="0"/>
                </a:lnTo>
                <a:lnTo>
                  <a:pt x="2234228" y="2502843"/>
                </a:lnTo>
                <a:lnTo>
                  <a:pt x="0" y="2502843"/>
                </a:lnTo>
                <a:close/>
              </a:path>
            </a:pathLst>
          </a:custGeom>
        </p:spPr>
      </p:pic>
      <p:pic>
        <p:nvPicPr>
          <p:cNvPr id="9" name="Kép 8" descr="A képen szöveg, ital, palack, üdítőital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B2D3747-71C3-43D4-1006-C22B9B0CD4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37" b="-1"/>
          <a:stretch/>
        </p:blipFill>
        <p:spPr>
          <a:xfrm>
            <a:off x="3" y="-6235"/>
            <a:ext cx="3255403" cy="2505456"/>
          </a:xfrm>
          <a:custGeom>
            <a:avLst/>
            <a:gdLst/>
            <a:ahLst/>
            <a:cxnLst/>
            <a:rect l="l" t="t" r="r" b="b"/>
            <a:pathLst>
              <a:path w="3255403" h="2505456">
                <a:moveTo>
                  <a:pt x="0" y="0"/>
                </a:moveTo>
                <a:lnTo>
                  <a:pt x="3255403" y="0"/>
                </a:lnTo>
                <a:lnTo>
                  <a:pt x="2094477" y="2505456"/>
                </a:lnTo>
                <a:lnTo>
                  <a:pt x="0" y="2505456"/>
                </a:lnTo>
                <a:close/>
              </a:path>
            </a:pathLst>
          </a:cu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9F2006-CD2F-A8C7-01D6-C16056E98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6" y="3717985"/>
            <a:ext cx="4812638" cy="224263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rgbClr val="FFFFFF"/>
                </a:solidFill>
              </a:rPr>
              <a:t>Registrations</a:t>
            </a:r>
            <a:r>
              <a:rPr lang="hu-HU" sz="2400" dirty="0">
                <a:solidFill>
                  <a:srgbClr val="FFFFFF"/>
                </a:solidFill>
              </a:rPr>
              <a:t> and </a:t>
            </a:r>
            <a:r>
              <a:rPr lang="hu-HU" sz="2400" dirty="0" err="1">
                <a:solidFill>
                  <a:srgbClr val="FFFFFF"/>
                </a:solidFill>
              </a:rPr>
              <a:t>logging</a:t>
            </a:r>
            <a:r>
              <a:rPr lang="hu-HU" sz="2400" dirty="0">
                <a:solidFill>
                  <a:srgbClr val="FFFFFF"/>
                </a:solidFill>
              </a:rPr>
              <a:t> 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rgbClr val="FFFFFF"/>
                </a:solidFill>
              </a:rPr>
              <a:t>Viewing</a:t>
            </a:r>
            <a:r>
              <a:rPr lang="hu-HU" sz="2400" dirty="0">
                <a:solidFill>
                  <a:srgbClr val="FFFFFF"/>
                </a:solidFill>
              </a:rPr>
              <a:t> </a:t>
            </a:r>
            <a:r>
              <a:rPr lang="hu-HU" sz="2400" dirty="0" err="1">
                <a:solidFill>
                  <a:srgbClr val="FFFFFF"/>
                </a:solidFill>
              </a:rPr>
              <a:t>menus</a:t>
            </a:r>
            <a:endParaRPr lang="hu-HU" sz="2400" dirty="0">
              <a:solidFill>
                <a:srgbClr val="FFFF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rgbClr val="FFFFFF"/>
                </a:solidFill>
              </a:rPr>
              <a:t>Cat</a:t>
            </a:r>
            <a:r>
              <a:rPr lang="hu-HU" sz="2400" dirty="0">
                <a:solidFill>
                  <a:srgbClr val="FFFFFF"/>
                </a:solidFill>
              </a:rPr>
              <a:t> </a:t>
            </a:r>
            <a:r>
              <a:rPr lang="hu-HU" sz="2400" dirty="0" err="1">
                <a:solidFill>
                  <a:srgbClr val="FFFFFF"/>
                </a:solidFill>
              </a:rPr>
              <a:t>introductions</a:t>
            </a:r>
            <a:endParaRPr lang="hu-HU" sz="2400" dirty="0">
              <a:solidFill>
                <a:srgbClr val="FFFF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rgbClr val="FFFFFF"/>
                </a:solidFill>
              </a:rPr>
              <a:t>Admin</a:t>
            </a:r>
            <a:r>
              <a:rPr lang="hu-HU" sz="2400" dirty="0">
                <a:solidFill>
                  <a:srgbClr val="FFFFFF"/>
                </a:solidFill>
              </a:rPr>
              <a:t> </a:t>
            </a:r>
            <a:r>
              <a:rPr lang="hu-HU" sz="2400" dirty="0" err="1">
                <a:solidFill>
                  <a:srgbClr val="FFFFFF"/>
                </a:solidFill>
              </a:rPr>
              <a:t>Function</a:t>
            </a:r>
            <a:endParaRPr lang="hu-HU" sz="2000" dirty="0">
              <a:solidFill>
                <a:srgbClr val="FFFFFF"/>
              </a:solidFill>
            </a:endParaRPr>
          </a:p>
        </p:txBody>
      </p:sp>
      <p:pic>
        <p:nvPicPr>
          <p:cNvPr id="13" name="Kép 12" descr="A képen szöveg, anime, rajzfilm, képernyő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D7CCD45-6A97-82E1-7085-D6D2BD1C23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28" t="-84" r="10142" b="85"/>
          <a:stretch/>
        </p:blipFill>
        <p:spPr>
          <a:xfrm>
            <a:off x="8264962" y="2660089"/>
            <a:ext cx="3927039" cy="4197911"/>
          </a:xfrm>
          <a:custGeom>
            <a:avLst/>
            <a:gdLst/>
            <a:ahLst/>
            <a:cxnLst/>
            <a:rect l="l" t="t" r="r" b="b"/>
            <a:pathLst>
              <a:path w="3927039" h="4197911">
                <a:moveTo>
                  <a:pt x="1945141" y="0"/>
                </a:moveTo>
                <a:lnTo>
                  <a:pt x="1951364" y="0"/>
                </a:lnTo>
                <a:lnTo>
                  <a:pt x="3141155" y="0"/>
                </a:lnTo>
                <a:lnTo>
                  <a:pt x="3927039" y="0"/>
                </a:lnTo>
                <a:lnTo>
                  <a:pt x="3927039" y="4194293"/>
                </a:lnTo>
                <a:lnTo>
                  <a:pt x="2683462" y="4194293"/>
                </a:lnTo>
                <a:lnTo>
                  <a:pt x="2681786" y="4197911"/>
                </a:lnTo>
                <a:lnTo>
                  <a:pt x="0" y="419791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47486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7A1D8B-CFA9-F801-CE48-E5E20B32A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rgbClr val="4A3B32"/>
                </a:solidFill>
                <a:latin typeface="Aptos Black" panose="020B0004020202020204" pitchFamily="34" charset="0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315258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">
            <a:extLst>
              <a:ext uri="{FF2B5EF4-FFF2-40B4-BE49-F238E27FC236}">
                <a16:creationId xmlns:a16="http://schemas.microsoft.com/office/drawing/2014/main" id="{7B0EAC71-1588-4F05-B8F6-39B63FC63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nt">
            <a:extLst>
              <a:ext uri="{FF2B5EF4-FFF2-40B4-BE49-F238E27FC236}">
                <a16:creationId xmlns:a16="http://schemas.microsoft.com/office/drawing/2014/main" id="{B7D0ACE8-8ED8-4CA7-9DDB-B725E80C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1700" y="0"/>
            <a:ext cx="10472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864AAEA-8DC4-4D15-864C-B53C5B4C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82F361B-984A-43B6-AFE8-1F1439428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99"/>
            <a:ext cx="12191999" cy="2726601"/>
          </a:xfrm>
          <a:prstGeom prst="rect">
            <a:avLst/>
          </a:prstGeom>
          <a:ln>
            <a:noFill/>
          </a:ln>
          <a:effectLst>
            <a:outerShdw blurRad="596900" dist="330200" dir="714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4204E93-5FC2-608E-9FDF-8C9E69384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529088"/>
            <a:ext cx="4697303" cy="1804680"/>
          </a:xfrm>
        </p:spPr>
        <p:txBody>
          <a:bodyPr>
            <a:normAutofit/>
          </a:bodyPr>
          <a:lstStyle/>
          <a:p>
            <a:r>
              <a:rPr lang="en-US" sz="3100" dirty="0"/>
              <a:t>Dev cycle - Jira and GitHub</a:t>
            </a:r>
            <a:br>
              <a:rPr lang="en-US" sz="3100" dirty="0"/>
            </a:br>
            <a:br>
              <a:rPr lang="hu-HU" sz="3100" dirty="0"/>
            </a:br>
            <a:endParaRPr lang="hu-HU" sz="3100" dirty="0"/>
          </a:p>
        </p:txBody>
      </p:sp>
      <p:sp useBgFill="1">
        <p:nvSpPr>
          <p:cNvPr id="33" name="Rectangle 30">
            <a:extLst>
              <a:ext uri="{FF2B5EF4-FFF2-40B4-BE49-F238E27FC236}">
                <a16:creationId xmlns:a16="http://schemas.microsoft.com/office/drawing/2014/main" id="{4F2A6A32-9ADF-4DD4-AEA5-0D1FF0F8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8" y="0"/>
            <a:ext cx="6096001" cy="6849700"/>
          </a:xfrm>
          <a:prstGeom prst="rect">
            <a:avLst/>
          </a:prstGeom>
          <a:ln>
            <a:noFill/>
          </a:ln>
          <a:effectLst>
            <a:outerShdw blurRad="596900" dist="317500" dir="8820000" sx="87000" sy="87000" algn="t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Tartalom helye 11" descr="A képen szöveg, képernyőkép, szoftver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23970C2-7994-7E73-2596-A0A5546FA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3" b="-2"/>
          <a:stretch/>
        </p:blipFill>
        <p:spPr>
          <a:xfrm>
            <a:off x="202785" y="2854557"/>
            <a:ext cx="5791026" cy="3855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FA5575B-5360-A95A-9250-96E18EBCE9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422327"/>
              </p:ext>
            </p:extLst>
          </p:nvPr>
        </p:nvGraphicFramePr>
        <p:xfrm>
          <a:off x="5815311" y="8299"/>
          <a:ext cx="5461826" cy="3511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15E68D9-4F88-0A74-E9D7-CD62E6CC19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1194549"/>
              </p:ext>
            </p:extLst>
          </p:nvPr>
        </p:nvGraphicFramePr>
        <p:xfrm>
          <a:off x="6630705" y="3015773"/>
          <a:ext cx="6038811" cy="3694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1141666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1"/>
            </a:gs>
            <a:gs pos="87000">
              <a:srgbClr val="E0CFB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Kép 3" descr="A képen fekete, rajz, sötétség, fekete-fehé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2B839B4-4540-BCC8-EDC8-1CE62271CC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5000"/>
                    </a14:imgEffect>
                    <a14:imgEffect>
                      <a14:saturation sat="198000"/>
                    </a14:imgEffect>
                    <a14:imgEffect>
                      <a14:brightnessContrast brigh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213" y="327092"/>
            <a:ext cx="11604302" cy="705359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3611463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30721" y="-107390"/>
            <a:ext cx="3853890" cy="4068665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ép 5" descr="A képen macska, rajzfil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78D1F80-151D-E498-6FFA-0DE8427DD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48"/>
          <a:stretch/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  <p:sp>
        <p:nvSpPr>
          <p:cNvPr id="3" name="Cím 1">
            <a:extLst>
              <a:ext uri="{FF2B5EF4-FFF2-40B4-BE49-F238E27FC236}">
                <a16:creationId xmlns:a16="http://schemas.microsoft.com/office/drawing/2014/main" id="{B9330E95-9039-9784-E26F-0327109C2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19" y="1033034"/>
            <a:ext cx="4613275" cy="3162300"/>
          </a:xfrm>
        </p:spPr>
        <p:txBody>
          <a:bodyPr/>
          <a:lstStyle/>
          <a:p>
            <a:r>
              <a:rPr lang="en-US" dirty="0"/>
              <a:t>Thank you for your attention!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1067953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Sárga–naranc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261</Words>
  <Application>Microsoft Office PowerPoint</Application>
  <PresentationFormat>Szélesvásznú</PresentationFormat>
  <Paragraphs>64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20" baseType="lpstr">
      <vt:lpstr>Abadi</vt:lpstr>
      <vt:lpstr>ADLaM Display</vt:lpstr>
      <vt:lpstr>Aptos</vt:lpstr>
      <vt:lpstr>Aptos Black</vt:lpstr>
      <vt:lpstr>Arial</vt:lpstr>
      <vt:lpstr>Calibri</vt:lpstr>
      <vt:lpstr>Office-téma</vt:lpstr>
      <vt:lpstr>Final Exam Project Yume Neko Café Webpage</vt:lpstr>
      <vt:lpstr>Project idea showcase</vt:lpstr>
      <vt:lpstr>Real-life problem solving</vt:lpstr>
      <vt:lpstr>Design breakdown - Logo</vt:lpstr>
      <vt:lpstr>Design breakdown– Colour palette</vt:lpstr>
      <vt:lpstr>Design breakdown – Items</vt:lpstr>
      <vt:lpstr>Figma design</vt:lpstr>
      <vt:lpstr>Database planning</vt:lpstr>
      <vt:lpstr>Technological stack </vt:lpstr>
      <vt:lpstr>The website's functionality </vt:lpstr>
      <vt:lpstr>Live Demo</vt:lpstr>
      <vt:lpstr>Dev cycle - Jira and GitHub  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Dorothy-DeerHaven@sulid.hu</dc:creator>
  <cp:lastModifiedBy>Dorothy-DeerHaven@sulid.hu</cp:lastModifiedBy>
  <cp:revision>140</cp:revision>
  <dcterms:created xsi:type="dcterms:W3CDTF">2025-02-18T16:07:56Z</dcterms:created>
  <dcterms:modified xsi:type="dcterms:W3CDTF">2025-05-22T19:45:02Z</dcterms:modified>
</cp:coreProperties>
</file>